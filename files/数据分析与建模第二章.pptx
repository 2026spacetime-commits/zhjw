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4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93" r:id="rId19"/>
    <p:sldId id="272" r:id="rId20"/>
    <p:sldId id="292" r:id="rId21"/>
    <p:sldId id="273" r:id="rId22"/>
    <p:sldId id="274" r:id="rId23"/>
    <p:sldId id="275" r:id="rId24"/>
    <p:sldId id="276" r:id="rId25"/>
    <p:sldId id="291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4" r:id="rId41"/>
    <p:sldId id="295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52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tableStyles" Target="tableStyle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3A47BA-E6B8-47A6-BE42-07E582673845}" type="datetimeFigureOut">
              <a:rPr lang="zh-CN" altLang="en-US" smtClean="0"/>
              <a:t>2026/10/15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8EC7C0-F145-4CD5-9E0B-9840264D18C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56430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 dirty="0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69001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032832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737360"/>
            <a:ext cx="12191695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0" b="1" i="0">
                <a:solidFill>
                  <a:srgbClr val="2D3A54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80360"/>
            <a:ext cx="121916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第二章 · 预测与建议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5870448" y="4617720"/>
            <a:ext cx="457200" cy="2743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AA3B2"/>
                </a:solidFill>
                <a:latin typeface="微软雅黑"/>
                <a:ea typeface="微软雅黑"/>
              </a:rPr>
              <a:t>1 / 38 · 预测与建议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737360"/>
            <a:ext cx="12191695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0" b="1" i="0">
                <a:solidFill>
                  <a:srgbClr val="2D3A54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80360"/>
            <a:ext cx="121916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第一部分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B8BFCC"/>
                </a:solidFill>
                <a:latin typeface="微软雅黑"/>
                <a:ea typeface="微软雅黑"/>
              </a:rPr>
              <a:t>预测分析导论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5870448" y="4617720"/>
            <a:ext cx="457200" cy="2743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AA3B2"/>
                </a:solidFill>
                <a:latin typeface="微软雅黑"/>
                <a:ea typeface="微软雅黑"/>
              </a:rPr>
              <a:t>2 / 38 · 预测与建议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第1部分 · 分析层级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数据分析的四个层级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80820"/>
            <a:ext cx="11186160" cy="8382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1531620"/>
            <a:ext cx="10668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同一个问题，四个层级给出深浅不同的答案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C7D2E0"/>
                </a:solidFill>
                <a:latin typeface="微软雅黑"/>
                <a:ea typeface="微软雅黑"/>
              </a:rPr>
              <a:t>描述性 Descriptive · 诊断性 Diagnostic · 预测性 Predictive · 规范性 Prescriptive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968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510" y="24206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① 描述性分析 —— 发生了什么？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先用图表和汇总把事实说清楚。例：某奶茶店上月营收 120 万元，比前一个月少 15%，周三是一周里的低点。这一步只描述现状，不做解释。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506046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510" y="3429846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② 诊断性分析 —— 为什么会这样？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接着追问原因：营收为什么掉？是对面开了新店，还是取消了第二杯半价？这一步要的是因果关系，正是第一章因果推断的主场。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515273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510" y="4439073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③ 预测性分析 —— 接下来会怎样？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用历史规律外推未来：维持现状的话，下月营收预计 135 万元；某患者未来 24 小时内发生败血症的风险是 85%。这是本章前半部分。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524499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510" y="5448299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④ 规范性分析 —— 我们该怎么做？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在预测之上给出能执行的行动：该给哪些会员发券、该对哪位患者提前用药。这是四个层级里的最高层，也是本章后半部分「建议」的主题。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3 / 38 · 预测与建议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第1部分 · 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 dirty="0" err="1">
                <a:solidFill>
                  <a:srgbClr val="1A2744"/>
                </a:solidFill>
                <a:latin typeface="微软雅黑"/>
                <a:ea typeface="微软雅黑"/>
              </a:rPr>
              <a:t>预测和因果推断：两件容易混淆的事</a:t>
            </a:r>
            <a:endParaRPr sz="2400" b="1" i="0" dirty="0">
              <a:solidFill>
                <a:srgbClr val="1A2744"/>
              </a:solidFill>
              <a:latin typeface="微软雅黑"/>
              <a:ea typeface="微软雅黑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9025433"/>
              </p:ext>
            </p:extLst>
          </p:nvPr>
        </p:nvGraphicFramePr>
        <p:xfrm>
          <a:off x="502920" y="1435100"/>
          <a:ext cx="11183620" cy="3352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06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对比项</a:t>
                      </a:r>
                    </a:p>
                  </a:txBody>
                  <a:tcPr marL="127000" marR="101600" marT="38100" marB="38100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预测分析</a:t>
                      </a:r>
                      <a:endParaRPr sz="1250" b="1" i="0" dirty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27000" marR="101600" marT="38100" marB="38100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 dirty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因果推断</a:t>
                      </a:r>
                      <a:endParaRPr sz="1250" b="1" i="0" dirty="0">
                        <a:solidFill>
                          <a:srgbClr val="FFFFFF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27000" marR="101600" marT="38100" marB="38100" anchor="ctr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要回答的问题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接下来会发生什么？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如果我做了某个改变，结果会不会跟着变？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目标量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 dirty="0" err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预测值：对未来结果的估计</a:t>
                      </a:r>
                      <a:endParaRPr sz="1100" b="0" i="0" dirty="0">
                        <a:solidFill>
                          <a:srgbClr val="4A556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因果效应：原因对结果的实际影响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怎样算算得好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预测得准不准（误差、AUC、准确率）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估计得准不准（识别策略、反事实、稳健性）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前提是什么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只要规律稳定，相关关系就够用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必须构造反事实，排除混淆因素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典型例子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根据购买记录预测客户会不会流失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 dirty="0" err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打折促销到底有没有提高复购率</a:t>
                      </a:r>
                      <a:endParaRPr sz="1100" b="1" i="0" dirty="0">
                        <a:solidFill>
                          <a:srgbClr val="1A2744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232400"/>
            <a:ext cx="11186160" cy="1041400"/>
          </a:xfrm>
          <a:prstGeom prst="rect">
            <a:avLst/>
          </a:prstGeom>
          <a:solidFill>
            <a:srgbClr val="F2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359400"/>
            <a:ext cx="10817860" cy="812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>
                <a:solidFill>
                  <a:srgbClr val="B45309"/>
                </a:solidFill>
                <a:latin typeface="微软雅黑"/>
                <a:ea typeface="微软雅黑"/>
              </a:rPr>
              <a:t>二者的关系</a:t>
            </a:r>
            <a:endParaRPr sz="1200" b="1" i="0" dirty="0">
              <a:solidFill>
                <a:srgbClr val="1A2744"/>
              </a:solidFill>
              <a:latin typeface="微软雅黑"/>
              <a:ea typeface="微软雅黑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预测和因果不是对立的，而是分工不同：因果推断告诉你「该动哪个环节」，预测告诉你「该优先找谁」。实际工作中常常先做因果、再做预测，两个模型配合使用。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4 / 38 · 预测与建议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第1部分 · 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预测分析的核心：监督学习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80820"/>
            <a:ext cx="11186160" cy="8382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1531620"/>
            <a:ext cx="10668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先让模型做一遍「有答案的练习题」，再去做「没有答案的考题」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C7D2E0"/>
                </a:solidFill>
                <a:latin typeface="微软雅黑"/>
                <a:ea typeface="微软雅黑"/>
              </a:rPr>
              <a:t>监督学习 Supervised Learning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968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510" y="24206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特征 X（输入）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模型能「看见」的信息。例：这位患者的体温、白细胞计数、心率、既往病史——这些都是在预测时刻就已经掌握的数据。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3985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510" y="33223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 dirty="0" err="1">
                <a:solidFill>
                  <a:srgbClr val="1A2744"/>
                </a:solidFill>
                <a:latin typeface="微软雅黑"/>
                <a:ea typeface="微软雅黑"/>
              </a:rPr>
              <a:t>标签</a:t>
            </a:r>
            <a:r>
              <a:rPr sz="1600" b="1" i="0" dirty="0">
                <a:solidFill>
                  <a:srgbClr val="1A2744"/>
                </a:solidFill>
                <a:latin typeface="微软雅黑"/>
                <a:ea typeface="微软雅黑"/>
              </a:rPr>
              <a:t> </a:t>
            </a:r>
            <a:r>
              <a:rPr sz="1600" b="1" i="0" dirty="0" err="1">
                <a:solidFill>
                  <a:srgbClr val="1A2744"/>
                </a:solidFill>
                <a:latin typeface="微软雅黑"/>
                <a:ea typeface="微软雅黑"/>
              </a:rPr>
              <a:t>Y（输出</a:t>
            </a:r>
            <a:r>
              <a:rPr sz="1600" b="1" i="0" dirty="0">
                <a:solidFill>
                  <a:srgbClr val="1A2744"/>
                </a:solidFill>
                <a:latin typeface="微软雅黑"/>
                <a:ea typeface="微软雅黑"/>
              </a:rPr>
              <a:t>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我们想预测的目标，也就是「标准答案</a:t>
            </a:r>
            <a:r>
              <a:rPr sz="1600" b="0" i="0" dirty="0">
                <a:solidFill>
                  <a:srgbClr val="2C2C2C"/>
                </a:solidFill>
                <a:latin typeface="微软雅黑"/>
                <a:ea typeface="微软雅黑"/>
              </a:rPr>
              <a:t>」。</a:t>
            </a:r>
            <a:r>
              <a:rPr sz="16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例：患者是否在</a:t>
            </a:r>
            <a:r>
              <a:rPr sz="1600" b="0" i="0" dirty="0">
                <a:solidFill>
                  <a:srgbClr val="2C2C2C"/>
                </a:solidFill>
                <a:latin typeface="微软雅黑"/>
                <a:ea typeface="微软雅黑"/>
              </a:rPr>
              <a:t> 24 </a:t>
            </a:r>
            <a:r>
              <a:rPr sz="16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小时内发生败血症（是</a:t>
            </a:r>
            <a:r>
              <a:rPr sz="1600" b="0" i="0" dirty="0">
                <a:solidFill>
                  <a:srgbClr val="2C2C2C"/>
                </a:solidFill>
                <a:latin typeface="微软雅黑"/>
                <a:ea typeface="微软雅黑"/>
              </a:rPr>
              <a:t>/否）、</a:t>
            </a:r>
            <a:r>
              <a:rPr sz="16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未来要住院多少天（数值</a:t>
            </a:r>
            <a:r>
              <a:rPr sz="1600" b="0" i="0" dirty="0">
                <a:solidFill>
                  <a:srgbClr val="2C2C2C"/>
                </a:solidFill>
                <a:latin typeface="微软雅黑"/>
                <a:ea typeface="微软雅黑"/>
              </a:rPr>
              <a:t>）。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3002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510" y="42240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训练 → 预测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把大量「（特征, 标签）」配对样本喂给模型，让它自己找出从 X 到 Y 的规律。学完之后，面对只有 X、没有 Y 的新样本，模型就能给出预测。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125720"/>
            <a:ext cx="10792460" cy="117094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37160" bIns="118872" rtlCol="0" anchor="ctr">
            <a:noAutofit/>
          </a:bodyPr>
          <a:lstStyle/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300" b="0" i="1" dirty="0">
                <a:solidFill>
                  <a:srgbClr val="94A3B8"/>
                </a:solidFill>
                <a:latin typeface="Consolas"/>
                <a:ea typeface="Consolas"/>
              </a:rPr>
              <a:t>from </a:t>
            </a:r>
            <a:r>
              <a:rPr sz="1300" b="0" i="1" dirty="0" err="1">
                <a:solidFill>
                  <a:srgbClr val="94A3B8"/>
                </a:solidFill>
                <a:latin typeface="Consolas"/>
                <a:ea typeface="Consolas"/>
              </a:rPr>
              <a:t>sklearn.linear_model</a:t>
            </a:r>
            <a:r>
              <a:rPr sz="1300" b="0" i="1" dirty="0">
                <a:solidFill>
                  <a:srgbClr val="94A3B8"/>
                </a:solidFill>
                <a:latin typeface="Consolas"/>
                <a:ea typeface="Consolas"/>
              </a:rPr>
              <a:t> import </a:t>
            </a:r>
            <a:r>
              <a:rPr sz="1300" b="0" i="1" dirty="0" err="1">
                <a:solidFill>
                  <a:srgbClr val="94A3B8"/>
                </a:solidFill>
                <a:latin typeface="Consolas"/>
                <a:ea typeface="Consolas"/>
              </a:rPr>
              <a:t>LogisticRegression</a:t>
            </a:r>
            <a:endParaRPr sz="1300" b="0" i="1" dirty="0">
              <a:solidFill>
                <a:srgbClr val="94A3B8"/>
              </a:solidFill>
              <a:latin typeface="Consolas"/>
              <a:ea typeface="Consolas"/>
            </a:endParaRP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300" b="0" i="0" dirty="0">
                <a:solidFill>
                  <a:srgbClr val="93C5FD"/>
                </a:solidFill>
                <a:latin typeface="Consolas"/>
                <a:ea typeface="Consolas"/>
              </a:rPr>
              <a:t>model = </a:t>
            </a:r>
            <a:r>
              <a:rPr sz="1300" b="0" i="0" dirty="0" err="1">
                <a:solidFill>
                  <a:srgbClr val="93C5FD"/>
                </a:solidFill>
                <a:latin typeface="Consolas"/>
                <a:ea typeface="Consolas"/>
              </a:rPr>
              <a:t>LogisticRegression</a:t>
            </a:r>
            <a:r>
              <a:rPr sz="1300" b="0" i="0" dirty="0">
                <a:solidFill>
                  <a:srgbClr val="93C5FD"/>
                </a:solidFill>
                <a:latin typeface="Consolas"/>
                <a:ea typeface="Consolas"/>
              </a:rPr>
              <a:t>()</a:t>
            </a: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300" b="0" i="0" dirty="0" err="1">
                <a:solidFill>
                  <a:srgbClr val="E2E8F0"/>
                </a:solidFill>
                <a:latin typeface="Consolas"/>
                <a:ea typeface="Consolas"/>
              </a:rPr>
              <a:t>model.fit</a:t>
            </a:r>
            <a:r>
              <a:rPr sz="1300" b="0" i="0" dirty="0">
                <a:solidFill>
                  <a:srgbClr val="E2E8F0"/>
                </a:solidFill>
                <a:latin typeface="Consolas"/>
                <a:ea typeface="Consolas"/>
              </a:rPr>
              <a:t>(</a:t>
            </a:r>
            <a:r>
              <a:rPr sz="1300" b="0" i="0" dirty="0" err="1">
                <a:solidFill>
                  <a:srgbClr val="E2E8F0"/>
                </a:solidFill>
                <a:latin typeface="Consolas"/>
                <a:ea typeface="Consolas"/>
              </a:rPr>
              <a:t>X_train</a:t>
            </a:r>
            <a:r>
              <a:rPr sz="1300" b="0" i="0" dirty="0">
                <a:solidFill>
                  <a:srgbClr val="E2E8F0"/>
                </a:solidFill>
                <a:latin typeface="Consolas"/>
                <a:ea typeface="Consolas"/>
              </a:rPr>
              <a:t>, </a:t>
            </a:r>
            <a:r>
              <a:rPr sz="1300" b="0" i="0" dirty="0" err="1">
                <a:solidFill>
                  <a:srgbClr val="E2E8F0"/>
                </a:solidFill>
                <a:latin typeface="Consolas"/>
                <a:ea typeface="Consolas"/>
              </a:rPr>
              <a:t>y_train</a:t>
            </a:r>
            <a:r>
              <a:rPr sz="1300" b="0" i="0" dirty="0">
                <a:solidFill>
                  <a:srgbClr val="E2E8F0"/>
                </a:solidFill>
                <a:latin typeface="Consolas"/>
                <a:ea typeface="Consolas"/>
              </a:rPr>
              <a:t>)      # </a:t>
            </a:r>
            <a:r>
              <a:rPr sz="1300" b="0" i="0" dirty="0" err="1">
                <a:solidFill>
                  <a:srgbClr val="E2E8F0"/>
                </a:solidFill>
                <a:latin typeface="Consolas"/>
                <a:ea typeface="Consolas"/>
              </a:rPr>
              <a:t>训练：从已有样本里学出</a:t>
            </a:r>
            <a:r>
              <a:rPr sz="1300" b="0" i="0" dirty="0">
                <a:solidFill>
                  <a:srgbClr val="E2E8F0"/>
                </a:solidFill>
                <a:latin typeface="Consolas"/>
                <a:ea typeface="Consolas"/>
              </a:rPr>
              <a:t> X 到 Y </a:t>
            </a:r>
            <a:r>
              <a:rPr sz="1300" b="0" i="0" dirty="0" err="1">
                <a:solidFill>
                  <a:srgbClr val="E2E8F0"/>
                </a:solidFill>
                <a:latin typeface="Consolas"/>
                <a:ea typeface="Consolas"/>
              </a:rPr>
              <a:t>的规律</a:t>
            </a:r>
            <a:endParaRPr sz="1300" b="0" i="0" dirty="0">
              <a:solidFill>
                <a:srgbClr val="E2E8F0"/>
              </a:solidFill>
              <a:latin typeface="Consolas"/>
              <a:ea typeface="Consolas"/>
            </a:endParaRP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300" b="0" i="0" dirty="0" err="1">
                <a:solidFill>
                  <a:srgbClr val="E2E8F0"/>
                </a:solidFill>
                <a:latin typeface="Consolas"/>
                <a:ea typeface="Consolas"/>
              </a:rPr>
              <a:t>y_pred</a:t>
            </a:r>
            <a:r>
              <a:rPr sz="1300" b="0" i="0" dirty="0">
                <a:solidFill>
                  <a:srgbClr val="E2E8F0"/>
                </a:solidFill>
                <a:latin typeface="Consolas"/>
                <a:ea typeface="Consolas"/>
              </a:rPr>
              <a:t> = </a:t>
            </a:r>
            <a:r>
              <a:rPr sz="1300" b="0" i="0" dirty="0" err="1">
                <a:solidFill>
                  <a:srgbClr val="E2E8F0"/>
                </a:solidFill>
                <a:latin typeface="Consolas"/>
                <a:ea typeface="Consolas"/>
              </a:rPr>
              <a:t>model.predict</a:t>
            </a:r>
            <a:r>
              <a:rPr sz="1300" b="0" i="0" dirty="0">
                <a:solidFill>
                  <a:srgbClr val="E2E8F0"/>
                </a:solidFill>
                <a:latin typeface="Consolas"/>
                <a:ea typeface="Consolas"/>
              </a:rPr>
              <a:t>(</a:t>
            </a:r>
            <a:r>
              <a:rPr sz="1300" b="0" i="0" dirty="0" err="1">
                <a:solidFill>
                  <a:srgbClr val="E2E8F0"/>
                </a:solidFill>
                <a:latin typeface="Consolas"/>
                <a:ea typeface="Consolas"/>
              </a:rPr>
              <a:t>X_new</a:t>
            </a:r>
            <a:r>
              <a:rPr sz="1300" b="0" i="0" dirty="0">
                <a:solidFill>
                  <a:srgbClr val="E2E8F0"/>
                </a:solidFill>
                <a:latin typeface="Consolas"/>
                <a:ea typeface="Consolas"/>
              </a:rPr>
              <a:t>)    # </a:t>
            </a:r>
            <a:r>
              <a:rPr sz="1300" b="0" i="0" dirty="0" err="1">
                <a:solidFill>
                  <a:srgbClr val="E2E8F0"/>
                </a:solidFill>
                <a:latin typeface="Consolas"/>
                <a:ea typeface="Consolas"/>
              </a:rPr>
              <a:t>预测：给没有标签的新样本一个答案</a:t>
            </a:r>
            <a:endParaRPr sz="1300" b="0" i="0" dirty="0">
              <a:solidFill>
                <a:srgbClr val="E2E8F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5 / 38 · 预测与建议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52CF5B95-7511-405D-91E9-F76533AC3C82}"/>
              </a:ext>
            </a:extLst>
          </p:cNvPr>
          <p:cNvSpPr txBox="1"/>
          <p:nvPr/>
        </p:nvSpPr>
        <p:spPr>
          <a:xfrm>
            <a:off x="2995612" y="6413500"/>
            <a:ext cx="6096000" cy="369332"/>
          </a:xfrm>
          <a:prstGeom prst="rect">
            <a:avLst/>
          </a:prstGeom>
          <a:solidFill>
            <a:schemeClr val="accent2"/>
          </a:solidFill>
        </p:spPr>
        <p:txBody>
          <a:bodyPr wrap="square">
            <a:spAutoFit/>
          </a:bodyPr>
          <a:lstStyle/>
          <a:p>
            <a:r>
              <a:rPr lang="zh-CN" altLang="en-US" dirty="0"/>
              <a:t>思考：</a:t>
            </a:r>
            <a:r>
              <a:rPr lang="en-US" altLang="zh-CN" dirty="0"/>
              <a:t>fit </a:t>
            </a:r>
            <a:r>
              <a:rPr lang="zh-CN" altLang="en-US" dirty="0"/>
              <a:t>的时候，能不能把测试集数据放进去一起训练？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第1部分 · 两大问题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分类与回归：两种预测问题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6755291"/>
              </p:ext>
            </p:extLst>
          </p:nvPr>
        </p:nvGraphicFramePr>
        <p:xfrm>
          <a:off x="502920" y="1435100"/>
          <a:ext cx="11183620" cy="33701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3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4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对比项</a:t>
                      </a:r>
                    </a:p>
                  </a:txBody>
                  <a:tcPr marL="127000" marR="101600" marT="38100" marB="38100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分类问题</a:t>
                      </a:r>
                    </a:p>
                  </a:txBody>
                  <a:tcPr marL="127000" marR="101600" marT="38100" marB="38100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回归问题</a:t>
                      </a:r>
                    </a:p>
                  </a:txBody>
                  <a:tcPr marL="127000" marR="101600" marT="38100" marB="38100" anchor="ctr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要预测什么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离散的类别：是/否、A/B/C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连续的数值：多少、多久、多高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模型输出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类别加概率，如「败血症风险 85%」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一个数值，如「住院 7.5 天」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怎样评好坏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准确率、AUC、混淆矩阵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均方误差 MSE、平均绝对误差 MAE、R²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生活中的例子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 dirty="0" err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是否患病、是否流失、是不是垃圾邮件、明天会不会下雨</a:t>
                      </a:r>
                      <a:endParaRPr sz="1100" b="0" i="0" dirty="0">
                        <a:solidFill>
                          <a:srgbClr val="4A5568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住院天数、房价、下月销量、气温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常用方法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逻辑回归、决策树、随机森林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 dirty="0" err="1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线性回归、决策树、随机森林</a:t>
                      </a:r>
                      <a:endParaRPr sz="1100" b="1" i="0" dirty="0">
                        <a:solidFill>
                          <a:srgbClr val="1A2744"/>
                        </a:solidFill>
                        <a:latin typeface="微软雅黑"/>
                        <a:ea typeface="微软雅黑"/>
                      </a:endParaRP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984750"/>
            <a:ext cx="11186160" cy="1289050"/>
          </a:xfrm>
          <a:prstGeom prst="rect">
            <a:avLst/>
          </a:prstGeom>
          <a:solidFill>
            <a:srgbClr val="F2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4984750"/>
            <a:ext cx="63500" cy="128905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111750"/>
            <a:ext cx="10817860" cy="106045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 i="0">
                <a:solidFill>
                  <a:srgbClr val="B45309"/>
                </a:solidFill>
                <a:latin typeface="微软雅黑"/>
                <a:ea typeface="微软雅黑"/>
              </a:rPr>
              <a:t>随堂练习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i="0">
                <a:solidFill>
                  <a:srgbClr val="2C2C2C"/>
                </a:solidFill>
                <a:latin typeface="微软雅黑"/>
                <a:ea typeface="微软雅黑"/>
              </a:rPr>
              <a:t>判断下面四个问题属于分类还是回归：① 预测客户下月是否续约；② 预测航班延误多少分钟；③ 预测邮件是否为垃圾邮件；④ 预测商品未来 30 天的销量。答案：①③ 是分类，因为答案是「是/否」这类类别；②④ 是回归，因为答案是「多少」这类数值。判断口诀：看要预测的答案本身，是类别还是数字。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6 / 38 · 预测与建议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第1部分 · 全章路线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预测分析的完整流程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35100"/>
            <a:ext cx="11186160" cy="520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 dirty="0" err="1">
                <a:solidFill>
                  <a:srgbClr val="4A5568"/>
                </a:solidFill>
                <a:latin typeface="微软雅黑"/>
                <a:ea typeface="微软雅黑"/>
              </a:rPr>
              <a:t>预测不是「拿数据跑个算法」这么简单。它是一条从业务问题出发、一直到指导决策落地的完整链路</a:t>
            </a:r>
            <a:r>
              <a:rPr sz="1500" b="0" i="0" dirty="0">
                <a:solidFill>
                  <a:srgbClr val="4A5568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463800"/>
            <a:ext cx="1380308" cy="2286000"/>
          </a:xfrm>
          <a:prstGeom prst="roundRect">
            <a:avLst>
              <a:gd name="adj" fmla="val 8000"/>
            </a:avLst>
          </a:prstGeom>
          <a:solidFill>
            <a:srgbClr val="F2EFE9"/>
          </a:solidFill>
          <a:ln w="9525">
            <a:solidFill>
              <a:srgbClr val="1A2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79120" y="2565400"/>
            <a:ext cx="1227908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B45309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9120" y="2895600"/>
            <a:ext cx="1227908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A2744"/>
                </a:solidFill>
                <a:latin typeface="微软雅黑"/>
                <a:ea typeface="微软雅黑"/>
              </a:rPr>
              <a:t>业务问题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20" y="3302000"/>
            <a:ext cx="1227908" cy="1346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微软雅黑"/>
                <a:ea typeface="微软雅黑"/>
              </a:rPr>
              <a:t>先想清楚要解决什么，模型才有意义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1328" y="3429000"/>
            <a:ext cx="15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37228" y="2463800"/>
            <a:ext cx="1380308" cy="2286000"/>
          </a:xfrm>
          <a:prstGeom prst="roundRect">
            <a:avLst>
              <a:gd name="adj" fmla="val 8000"/>
            </a:avLst>
          </a:prstGeom>
          <a:solidFill>
            <a:srgbClr val="F2EFE9"/>
          </a:solidFill>
          <a:ln w="9525">
            <a:solidFill>
              <a:srgbClr val="1A2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13428" y="2565400"/>
            <a:ext cx="1227908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B45309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13428" y="2895600"/>
            <a:ext cx="1227908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A2744"/>
                </a:solidFill>
                <a:latin typeface="微软雅黑"/>
                <a:ea typeface="微软雅黑"/>
              </a:rPr>
              <a:t>收集数据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13428" y="3302000"/>
            <a:ext cx="1227908" cy="1346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微软雅黑"/>
                <a:ea typeface="微软雅黑"/>
              </a:rPr>
              <a:t>把历史样本整理成「输入—答案」配对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55637" y="3429000"/>
            <a:ext cx="15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71537" y="2463800"/>
            <a:ext cx="1380308" cy="2286000"/>
          </a:xfrm>
          <a:prstGeom prst="roundRect">
            <a:avLst>
              <a:gd name="adj" fmla="val 8000"/>
            </a:avLst>
          </a:prstGeom>
          <a:solidFill>
            <a:srgbClr val="F2EFE9"/>
          </a:solidFill>
          <a:ln w="9525">
            <a:solidFill>
              <a:srgbClr val="1A2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7737" y="2565400"/>
            <a:ext cx="1227908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B45309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7737" y="2895600"/>
            <a:ext cx="1227908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A2744"/>
                </a:solidFill>
                <a:latin typeface="微软雅黑"/>
                <a:ea typeface="微软雅黑"/>
              </a:rPr>
              <a:t>特征工程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7737" y="3302000"/>
            <a:ext cx="1227908" cy="1346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微软雅黑"/>
                <a:ea typeface="微软雅黑"/>
              </a:rPr>
              <a:t>把原始数据整理成模型能用的样子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9945" y="3429000"/>
            <a:ext cx="15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05845" y="2463800"/>
            <a:ext cx="1380308" cy="2286000"/>
          </a:xfrm>
          <a:prstGeom prst="roundRect">
            <a:avLst>
              <a:gd name="adj" fmla="val 8000"/>
            </a:avLst>
          </a:prstGeom>
          <a:solidFill>
            <a:srgbClr val="F2EFE9"/>
          </a:solidFill>
          <a:ln w="9525">
            <a:solidFill>
              <a:srgbClr val="1A2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2045" y="2565400"/>
            <a:ext cx="1227908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B45309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2045" y="2895600"/>
            <a:ext cx="1227908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A2744"/>
                </a:solidFill>
                <a:latin typeface="微软雅黑"/>
                <a:ea typeface="微软雅黑"/>
              </a:rPr>
              <a:t>训练模型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2045" y="3302000"/>
            <a:ext cx="1227908" cy="1346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微软雅黑"/>
                <a:ea typeface="微软雅黑"/>
              </a:rPr>
              <a:t>让模型从历史样本里学出规律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24254" y="3429000"/>
            <a:ext cx="15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40154" y="2463800"/>
            <a:ext cx="1380308" cy="2286000"/>
          </a:xfrm>
          <a:prstGeom prst="roundRect">
            <a:avLst>
              <a:gd name="adj" fmla="val 8000"/>
            </a:avLst>
          </a:prstGeom>
          <a:solidFill>
            <a:srgbClr val="F2EFE9"/>
          </a:solidFill>
          <a:ln w="9525">
            <a:solidFill>
              <a:srgbClr val="1A2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16354" y="2565400"/>
            <a:ext cx="1227908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B45309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16354" y="2895600"/>
            <a:ext cx="1227908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A2744"/>
                </a:solidFill>
                <a:latin typeface="微软雅黑"/>
                <a:ea typeface="微软雅黑"/>
              </a:rPr>
              <a:t>评估调优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16354" y="3302000"/>
            <a:ext cx="1227908" cy="1346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微软雅黑"/>
                <a:ea typeface="微软雅黑"/>
              </a:rPr>
              <a:t>在没见过的数据上验证准不准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562" y="3429000"/>
            <a:ext cx="15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674462" y="2463800"/>
            <a:ext cx="1380308" cy="2286000"/>
          </a:xfrm>
          <a:prstGeom prst="roundRect">
            <a:avLst>
              <a:gd name="adj" fmla="val 8000"/>
            </a:avLst>
          </a:prstGeom>
          <a:solidFill>
            <a:srgbClr val="F2EFE9"/>
          </a:solidFill>
          <a:ln w="9525">
            <a:solidFill>
              <a:srgbClr val="1A2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750662" y="2565400"/>
            <a:ext cx="1227908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B45309"/>
                </a:solidFill>
                <a:latin typeface="微软雅黑"/>
                <a:ea typeface="微软雅黑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50662" y="2895600"/>
            <a:ext cx="1227908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A2744"/>
                </a:solidFill>
                <a:latin typeface="微软雅黑"/>
                <a:ea typeface="微软雅黑"/>
              </a:rPr>
              <a:t>部署上线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0662" y="3302000"/>
            <a:ext cx="1227908" cy="1346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微软雅黑"/>
                <a:ea typeface="微软雅黑"/>
              </a:rPr>
              <a:t>让模型在真实业务里自动跑起来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092871" y="3429000"/>
            <a:ext cx="15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308771" y="2463800"/>
            <a:ext cx="1380308" cy="2286000"/>
          </a:xfrm>
          <a:prstGeom prst="roundRect">
            <a:avLst>
              <a:gd name="adj" fmla="val 8000"/>
            </a:avLst>
          </a:prstGeom>
          <a:solidFill>
            <a:srgbClr val="F2EFE9"/>
          </a:solidFill>
          <a:ln w="9525">
            <a:solidFill>
              <a:srgbClr val="1A2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10384971" y="2565400"/>
            <a:ext cx="1227908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B45309"/>
                </a:solidFill>
                <a:latin typeface="微软雅黑"/>
                <a:ea typeface="微软雅黑"/>
              </a:rPr>
              <a:t>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84971" y="2895600"/>
            <a:ext cx="1227908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A2744"/>
                </a:solidFill>
                <a:latin typeface="微软雅黑"/>
                <a:ea typeface="微软雅黑"/>
              </a:rPr>
              <a:t>指导决策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84971" y="3302000"/>
            <a:ext cx="1227908" cy="1346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微软雅黑"/>
                <a:ea typeface="微软雅黑"/>
              </a:rPr>
              <a:t>把预测分数转成「该做什么」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7 / 38 · 预测与建议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737360"/>
            <a:ext cx="12191695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0" b="1" i="0">
                <a:solidFill>
                  <a:srgbClr val="2D3A54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80360"/>
            <a:ext cx="121916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第二部分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B8BFCC"/>
                </a:solidFill>
                <a:latin typeface="微软雅黑"/>
                <a:ea typeface="微软雅黑"/>
              </a:rPr>
              <a:t>案例一 · 天气预报的工作原理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5870448" y="4617720"/>
            <a:ext cx="457200" cy="2743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AA3B2"/>
                </a:solidFill>
                <a:latin typeface="微软雅黑"/>
                <a:ea typeface="微软雅黑"/>
              </a:rPr>
              <a:t>8 / 38 · 预测与建议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第2部分 · 案例引入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天气预报：最古老也最典型的一个预测问题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80820"/>
            <a:ext cx="11186160" cy="838200"/>
          </a:xfrm>
          <a:prstGeom prst="roundRect">
            <a:avLst>
              <a:gd name="adj" fmla="val 8000"/>
            </a:avLst>
          </a:prstGeom>
          <a:solidFill>
            <a:srgbClr val="234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1531620"/>
            <a:ext cx="10668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天气预报每天都在做同一件事：用现在的观测，推算未来的天气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C7D2E0"/>
                </a:solidFill>
                <a:latin typeface="微软雅黑"/>
                <a:ea typeface="微软雅黑"/>
              </a:rPr>
              <a:t>它和机器学习模型，骨子里是同一套逻辑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968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510" y="24206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从观天象到数值预报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人类观云测雨几千年，靠的都是经验，比如「朝霞不出门，晚霞行千里」。真正把天气预报变成一道「计算题」，始于 1850 年代用电报收集天气图，以及 1950 年 ENIAC 计算机跑出的首次数值预报。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506046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510" y="3429846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为什么它是「预测」的教科书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因为它具备预测的全部要素：输入（气压、温度、湿度、风向风速）、目标（未来某个时刻的天气）、以及有效提前量（预报时效）。这套结构和机器学习预测模型完全对应。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515273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510" y="4439073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预测的本质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用「现在已知的状态」加上「大气运动的规律」，推算出「未来的状态」。观测数据、物理模型和不确定性，三者缺一不可。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9 / 38 · 预测与建议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第2部分 · 工作原理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数值天气预报是怎么算出来的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" y="151130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5510" y="143510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核心思路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把大气看成一个流体，用物理方程描述它怎么运动、怎么变化；然后在计算机上求解这些方程，从当前状态一步一步推演到未来。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698750"/>
            <a:ext cx="2034032" cy="2095500"/>
          </a:xfrm>
          <a:prstGeom prst="roundRect">
            <a:avLst>
              <a:gd name="adj" fmla="val 8000"/>
            </a:avLst>
          </a:prstGeom>
          <a:solidFill>
            <a:srgbClr val="F2EFE9"/>
          </a:solidFill>
          <a:ln w="9525">
            <a:solidFill>
              <a:srgbClr val="1A2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79120" y="2800350"/>
            <a:ext cx="1881632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B45309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9120" y="3130550"/>
            <a:ext cx="1881632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A2744"/>
                </a:solidFill>
                <a:latin typeface="微软雅黑"/>
                <a:ea typeface="微软雅黑"/>
              </a:rPr>
              <a:t>数据采集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9120" y="3536950"/>
            <a:ext cx="1881632" cy="1155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微软雅黑"/>
                <a:ea typeface="微软雅黑"/>
              </a:rPr>
              <a:t>地面站、探空气球、卫星、雷达一起上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5052" y="3568700"/>
            <a:ext cx="15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90952" y="2698750"/>
            <a:ext cx="2034032" cy="2095500"/>
          </a:xfrm>
          <a:prstGeom prst="roundRect">
            <a:avLst>
              <a:gd name="adj" fmla="val 8000"/>
            </a:avLst>
          </a:prstGeom>
          <a:solidFill>
            <a:srgbClr val="F2EFE9"/>
          </a:solidFill>
          <a:ln w="9525">
            <a:solidFill>
              <a:srgbClr val="1A2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867152" y="2800350"/>
            <a:ext cx="1881632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B45309"/>
                </a:solidFill>
                <a:latin typeface="微软雅黑"/>
                <a:ea typeface="微软雅黑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7152" y="3130550"/>
            <a:ext cx="1881632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A2744"/>
                </a:solidFill>
                <a:latin typeface="微软雅黑"/>
                <a:ea typeface="微软雅黑"/>
              </a:rPr>
              <a:t>资料同化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7152" y="3536950"/>
            <a:ext cx="1881632" cy="1155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微软雅黑"/>
                <a:ea typeface="微软雅黑"/>
              </a:rPr>
              <a:t>把散落各处的观测插到规则网格上，拼出一张完整的初始天气图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63084" y="3568700"/>
            <a:ext cx="15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8984" y="2698750"/>
            <a:ext cx="2034032" cy="2095500"/>
          </a:xfrm>
          <a:prstGeom prst="roundRect">
            <a:avLst>
              <a:gd name="adj" fmla="val 8000"/>
            </a:avLst>
          </a:prstGeom>
          <a:solidFill>
            <a:srgbClr val="F2EFE9"/>
          </a:solidFill>
          <a:ln w="9525">
            <a:solidFill>
              <a:srgbClr val="1A2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55184" y="2800350"/>
            <a:ext cx="1881632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B45309"/>
                </a:solidFill>
                <a:latin typeface="微软雅黑"/>
                <a:ea typeface="微软雅黑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55184" y="3130550"/>
            <a:ext cx="1881632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A2744"/>
                </a:solidFill>
                <a:latin typeface="微软雅黑"/>
                <a:ea typeface="微软雅黑"/>
              </a:rPr>
              <a:t>大气模式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55184" y="3536950"/>
            <a:ext cx="1881632" cy="1155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微软雅黑"/>
                <a:ea typeface="微软雅黑"/>
              </a:rPr>
              <a:t>把流体力学方程离散到网格，逐个格子计算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1116" y="3568700"/>
            <a:ext cx="15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67016" y="2698750"/>
            <a:ext cx="2034032" cy="2095500"/>
          </a:xfrm>
          <a:prstGeom prst="roundRect">
            <a:avLst>
              <a:gd name="adj" fmla="val 8000"/>
            </a:avLst>
          </a:prstGeom>
          <a:solidFill>
            <a:srgbClr val="F2EFE9"/>
          </a:solidFill>
          <a:ln w="9525">
            <a:solidFill>
              <a:srgbClr val="1A2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43216" y="2800350"/>
            <a:ext cx="1881632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B45309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43216" y="3130550"/>
            <a:ext cx="1881632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A2744"/>
                </a:solidFill>
                <a:latin typeface="微软雅黑"/>
                <a:ea typeface="微软雅黑"/>
              </a:rPr>
              <a:t>数值求解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43216" y="3536950"/>
            <a:ext cx="1881632" cy="1155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微软雅黑"/>
                <a:ea typeface="微软雅黑"/>
              </a:rPr>
              <a:t>用超级计算机反复迭代，推出未来每个时刻的状态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39148" y="3568700"/>
            <a:ext cx="15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55048" y="2698750"/>
            <a:ext cx="2034032" cy="20955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 w="9525">
            <a:solidFill>
              <a:srgbClr val="1A2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731248" y="2800350"/>
            <a:ext cx="1881632" cy="3048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B45309"/>
                </a:solidFill>
                <a:latin typeface="微软雅黑"/>
                <a:ea typeface="微软雅黑"/>
              </a:rPr>
              <a:t>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1248" y="3130550"/>
            <a:ext cx="1881632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预报产品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31248" y="3536950"/>
            <a:ext cx="1881632" cy="11557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C7D2E0"/>
                </a:solidFill>
                <a:latin typeface="微软雅黑"/>
                <a:ea typeface="微软雅黑"/>
              </a:rPr>
              <a:t>输出天气图和概率预报，供人使用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5232400"/>
            <a:ext cx="11186160" cy="1041400"/>
          </a:xfrm>
          <a:prstGeom prst="rect">
            <a:avLst/>
          </a:prstGeom>
          <a:solidFill>
            <a:srgbClr val="F2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02920" y="5232400"/>
            <a:ext cx="63500" cy="104140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31520" y="5359400"/>
            <a:ext cx="10817860" cy="812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 i="0">
                <a:solidFill>
                  <a:srgbClr val="B45309"/>
                </a:solidFill>
                <a:latin typeface="微软雅黑"/>
                <a:ea typeface="微软雅黑"/>
              </a:rPr>
              <a:t>和机器学习预测的关系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i="0">
                <a:solidFill>
                  <a:srgbClr val="2C2C2C"/>
                </a:solidFill>
                <a:latin typeface="微软雅黑"/>
                <a:ea typeface="微软雅黑"/>
              </a:rPr>
              <a:t>同化得到的初始状态相当于特征 X；物理方程相当于模型的假设；超级计算机的计算相当于模型拟合。区别在于：天气模式的「规律」来自物理定律，而不是从历史数据里学出来的——这正是它和机器学习最大的不同。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10 / 38 · 预测与建议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第2部分 · 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天气预测的数据从哪里来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1435100"/>
            <a:ext cx="11186160" cy="27305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 i="0">
                <a:solidFill>
                  <a:srgbClr val="4A5568"/>
                </a:solidFill>
                <a:latin typeface="微软雅黑"/>
                <a:ea typeface="微软雅黑"/>
              </a:rPr>
              <a:t>预报能有多准，直接取决于「能看见多少大气」。全球的观测网络每天产生海量数据，由地面、高空、太空三层立体覆盖。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20875"/>
            <a:ext cx="5466080" cy="1651000"/>
          </a:xfrm>
          <a:prstGeom prst="roundRect">
            <a:avLst>
              <a:gd name="adj" fmla="val 8000"/>
            </a:avLst>
          </a:prstGeom>
          <a:solidFill>
            <a:srgbClr val="FAF8F5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04520" y="2047875"/>
            <a:ext cx="526288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500" b="1" i="0" dirty="0" err="1">
                <a:solidFill>
                  <a:srgbClr val="1A2744"/>
                </a:solidFill>
                <a:latin typeface="微软雅黑"/>
                <a:ea typeface="微软雅黑"/>
              </a:rPr>
              <a:t>地面观测站</a:t>
            </a:r>
            <a:endParaRPr sz="1300" b="1" i="0" dirty="0">
              <a:solidFill>
                <a:srgbClr val="1A2744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050" b="0" i="0" dirty="0">
                <a:solidFill>
                  <a:srgbClr val="4A5568"/>
                </a:solidFill>
                <a:latin typeface="微软雅黑"/>
                <a:ea typeface="微软雅黑"/>
              </a:rPr>
              <a:t>近地面 · 覆盖最密</a:t>
            </a:r>
            <a:endParaRPr sz="900" b="0" i="0" dirty="0">
              <a:solidFill>
                <a:srgbClr val="B91C1C"/>
              </a:solidFill>
              <a:latin typeface="微软雅黑"/>
              <a:ea typeface="微软雅黑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04520" y="2682875"/>
            <a:ext cx="5262880" cy="78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微软雅黑"/>
                <a:ea typeface="微软雅黑"/>
              </a:rPr>
              <a:t>温度、气压、湿度、风向风速、降水量。全球上万个站点组成基础观测网，是贴着地面的实时传感器。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23000" y="1920875"/>
            <a:ext cx="5466080" cy="1651000"/>
          </a:xfrm>
          <a:prstGeom prst="roundRect">
            <a:avLst>
              <a:gd name="adj" fmla="val 8000"/>
            </a:avLst>
          </a:prstGeom>
          <a:solidFill>
            <a:srgbClr val="FAF8F5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24600" y="2047875"/>
            <a:ext cx="526288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500" b="1" i="0" dirty="0" err="1">
                <a:solidFill>
                  <a:srgbClr val="1A2744"/>
                </a:solidFill>
                <a:latin typeface="微软雅黑"/>
                <a:ea typeface="微软雅黑"/>
              </a:rPr>
              <a:t>探空气球</a:t>
            </a:r>
            <a:endParaRPr sz="1300" b="1" i="0" dirty="0">
              <a:solidFill>
                <a:srgbClr val="1A2744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050" b="0" i="0" dirty="0">
                <a:solidFill>
                  <a:srgbClr val="4A5568"/>
                </a:solidFill>
                <a:latin typeface="微软雅黑"/>
                <a:ea typeface="微软雅黑"/>
              </a:rPr>
              <a:t>每天两次 · 垂直剖面</a:t>
            </a:r>
            <a:endParaRPr sz="900" b="0" i="0" dirty="0">
              <a:solidFill>
                <a:srgbClr val="B91C1C"/>
              </a:solidFill>
              <a:latin typeface="微软雅黑"/>
              <a:ea typeface="微软雅黑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324600" y="2682875"/>
            <a:ext cx="5262880" cy="78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微软雅黑"/>
                <a:ea typeface="微软雅黑"/>
              </a:rPr>
              <a:t>每天 0 时和 12 时升空，一直探到 30 公里高空，给出温度、湿度、气压和风的垂直分布——了解高空状况的关键。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749675"/>
            <a:ext cx="5466080" cy="1651000"/>
          </a:xfrm>
          <a:prstGeom prst="roundRect">
            <a:avLst>
              <a:gd name="adj" fmla="val 8000"/>
            </a:avLst>
          </a:prstGeom>
          <a:solidFill>
            <a:srgbClr val="FAF8F5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4520" y="3876675"/>
            <a:ext cx="526288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500" b="1" i="0" dirty="0" err="1">
                <a:solidFill>
                  <a:srgbClr val="1A2744"/>
                </a:solidFill>
                <a:latin typeface="微软雅黑"/>
                <a:ea typeface="微软雅黑"/>
              </a:rPr>
              <a:t>气象卫星</a:t>
            </a:r>
            <a:endParaRPr sz="1300" b="1" i="0" dirty="0">
              <a:solidFill>
                <a:srgbClr val="1A2744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050" b="0" i="0" dirty="0">
                <a:solidFill>
                  <a:srgbClr val="4A5568"/>
                </a:solidFill>
                <a:latin typeface="微软雅黑"/>
                <a:ea typeface="微软雅黑"/>
              </a:rPr>
              <a:t>太空视角 · 覆盖无人区</a:t>
            </a:r>
            <a:endParaRPr sz="900" b="0" i="0" dirty="0">
              <a:solidFill>
                <a:srgbClr val="B91C1C"/>
              </a:solidFill>
              <a:latin typeface="微软雅黑"/>
              <a:ea typeface="微软雅黑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04520" y="4511675"/>
            <a:ext cx="5262880" cy="78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微软雅黑"/>
                <a:ea typeface="微软雅黑"/>
              </a:rPr>
              <a:t>提供云图、海表温度和水汽分布，覆盖海洋与无人区，补上了地面观测留下的空白。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23000" y="3749675"/>
            <a:ext cx="5466080" cy="1651000"/>
          </a:xfrm>
          <a:prstGeom prst="roundRect">
            <a:avLst>
              <a:gd name="adj" fmla="val 8000"/>
            </a:avLst>
          </a:prstGeom>
          <a:solidFill>
            <a:srgbClr val="FAF8F5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24600" y="3876675"/>
            <a:ext cx="526288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500" b="1" i="0" dirty="0" err="1">
                <a:solidFill>
                  <a:srgbClr val="1A2744"/>
                </a:solidFill>
                <a:latin typeface="微软雅黑"/>
                <a:ea typeface="微软雅黑"/>
              </a:rPr>
              <a:t>天气雷达</a:t>
            </a:r>
            <a:endParaRPr sz="1300" b="1" i="0" dirty="0">
              <a:solidFill>
                <a:srgbClr val="1A2744"/>
              </a:solidFill>
              <a:latin typeface="微软雅黑"/>
              <a:ea typeface="微软雅黑"/>
            </a:endParaRP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050" b="0" i="0" dirty="0">
                <a:solidFill>
                  <a:srgbClr val="4A5568"/>
                </a:solidFill>
                <a:latin typeface="微软雅黑"/>
                <a:ea typeface="微软雅黑"/>
              </a:rPr>
              <a:t>分钟级更新 · 强对流</a:t>
            </a:r>
            <a:endParaRPr sz="900" b="0" i="0" dirty="0">
              <a:solidFill>
                <a:srgbClr val="B91C1C"/>
              </a:solidFill>
              <a:latin typeface="微软雅黑"/>
              <a:ea typeface="微软雅黑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24600" y="4511675"/>
            <a:ext cx="5262880" cy="787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微软雅黑"/>
                <a:ea typeface="微软雅黑"/>
              </a:rPr>
              <a:t>发射电磁波探测降水粒子，几分钟更新一次，是暴雨、冰雹、龙卷风等强对流天气临近预报的核心手段。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588000"/>
            <a:ext cx="11186160" cy="685800"/>
          </a:xfrm>
          <a:prstGeom prst="rect">
            <a:avLst/>
          </a:prstGeom>
          <a:solidFill>
            <a:srgbClr val="F2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31520" y="5715000"/>
            <a:ext cx="10817860" cy="4572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i="0">
                <a:solidFill>
                  <a:srgbClr val="2C2C2C"/>
                </a:solidFill>
                <a:latin typeface="微软雅黑"/>
                <a:ea typeface="微软雅黑"/>
              </a:rPr>
              <a:t>观测越多、越准，初始状态就越接近真实的大气；但任何观测都有误差，这正是「不确定性」最初的来源。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11 / 38 · 预测与建议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第2部分 · 极限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大气是混沌系统：预报究竟能准多久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80820"/>
            <a:ext cx="11186160" cy="838200"/>
          </a:xfrm>
          <a:prstGeom prst="roundRect">
            <a:avLst>
              <a:gd name="adj" fmla="val 8000"/>
            </a:avLst>
          </a:prstGeom>
          <a:solidFill>
            <a:srgbClr val="2D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1531620"/>
            <a:ext cx="10668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为什么天气预报不能「无限准」？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C7D2E0"/>
                </a:solidFill>
                <a:latin typeface="微软雅黑"/>
                <a:ea typeface="微软雅黑"/>
              </a:rPr>
              <a:t>初始条件的微小误差，会被大气迅速放大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968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510" y="24206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蝴蝶效应（Lorenz, 1963）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气象学家洛伦兹发现，初始条件的微小差异会被大气的非线性运动迅速放大。他有一个著名的比喻：巴西一只蝴蝶扇动翅膀，可能在美国得克萨斯引起一场龙卷风。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506046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510" y="3429846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误差为什么会被放大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大气里充满了正反馈：地面受热会引发对流，对流又带来更多热量交换。任何一点小偏差都会被反复放大，而不是自行消失。所以初始观测的误差不可能被彻底消除。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515273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510" y="4439073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可预报性上限（约 2 周）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由于误差不断放大，即使初始状态再完美，确定性预报理论上也只能精确到两周左右。超过这个时长的「精准预报」，在物理上是做不到的。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12 / 38 · 预测与建议</a:t>
            </a:r>
          </a:p>
        </p:txBody>
      </p:sp>
      <p:sp>
        <p:nvSpPr>
          <p:cNvPr id="15" name="Oval 11"/>
          <p:cNvSpPr/>
          <p:nvPr/>
        </p:nvSpPr>
        <p:spPr>
          <a:xfrm>
            <a:off x="685800" y="5524499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2"/>
          <p:cNvSpPr txBox="1"/>
          <p:nvPr/>
        </p:nvSpPr>
        <p:spPr>
          <a:xfrm>
            <a:off x="905510" y="5448299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误差随时效增长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预报越远，误差越大：明天的预报很准，一周后的趋势还有参考价值，两周以上就只能看气候平均了。所以说，预测总有它的「有效提前量」。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第2部分 · 不确定性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集合预报：把不确定性算出来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80820"/>
            <a:ext cx="11186160" cy="83820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1531620"/>
            <a:ext cx="10668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既然误差无法消除，那就把它变成看得见的结果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C7D2E0"/>
                </a:solidFill>
                <a:latin typeface="微软雅黑"/>
                <a:ea typeface="微软雅黑"/>
              </a:rPr>
              <a:t>集合预报 Ensemble Forecasting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968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510" y="24206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 dirty="0" err="1">
                <a:solidFill>
                  <a:srgbClr val="1A2744"/>
                </a:solidFill>
                <a:latin typeface="微软雅黑"/>
                <a:ea typeface="微软雅黑"/>
              </a:rPr>
              <a:t>集合预报怎么做</a:t>
            </a:r>
            <a:endParaRPr sz="1600" b="1" i="0" dirty="0">
              <a:solidFill>
                <a:srgbClr val="1A2744"/>
              </a:solidFill>
              <a:latin typeface="微软雅黑"/>
              <a:ea typeface="微软雅黑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不去追求一个「完美」的初始状态，而是对它做一组微小的扰动，用这些略有差异的初始条件各跑一次预报，最后得到一组结果</a:t>
            </a:r>
            <a:r>
              <a:rPr sz="1600" b="0" i="0" dirty="0">
                <a:solidFill>
                  <a:srgbClr val="2C2C2C"/>
                </a:solidFill>
                <a:latin typeface="微软雅黑"/>
                <a:ea typeface="微软雅黑"/>
              </a:rPr>
              <a:t>（</a:t>
            </a:r>
            <a:r>
              <a:rPr lang="zh-CN" altLang="en-US" sz="1600" b="0" i="0" dirty="0">
                <a:solidFill>
                  <a:srgbClr val="2C2C2C"/>
                </a:solidFill>
                <a:latin typeface="微软雅黑"/>
                <a:ea typeface="微软雅黑"/>
              </a:rPr>
              <a:t>一百</a:t>
            </a:r>
            <a:r>
              <a:rPr sz="16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个成员</a:t>
            </a:r>
            <a:r>
              <a:rPr sz="1600" b="0" i="0" dirty="0">
                <a:solidFill>
                  <a:srgbClr val="2C2C2C"/>
                </a:solidFill>
                <a:latin typeface="微软雅黑"/>
                <a:ea typeface="微软雅黑"/>
              </a:rPr>
              <a:t>），</a:t>
            </a:r>
            <a:r>
              <a:rPr sz="16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而不是一个答案</a:t>
            </a:r>
            <a:r>
              <a:rPr sz="1600" b="0" i="0" dirty="0">
                <a:solidFill>
                  <a:srgbClr val="2C2C2C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5232400"/>
            <a:ext cx="63500" cy="104140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510" y="3357879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 dirty="0" err="1">
                <a:solidFill>
                  <a:srgbClr val="1A2744"/>
                </a:solidFill>
                <a:latin typeface="微软雅黑"/>
                <a:ea typeface="微软雅黑"/>
              </a:rPr>
              <a:t>概率预报</a:t>
            </a:r>
            <a:endParaRPr sz="1600" b="1" i="0" dirty="0">
              <a:solidFill>
                <a:srgbClr val="1A2744"/>
              </a:solidFill>
              <a:latin typeface="微软雅黑"/>
              <a:ea typeface="微软雅黑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统计这</a:t>
            </a:r>
            <a:r>
              <a:rPr lang="zh-CN" altLang="en-US" sz="1600" b="0" i="0" dirty="0">
                <a:solidFill>
                  <a:srgbClr val="2C2C2C"/>
                </a:solidFill>
                <a:latin typeface="微软雅黑"/>
                <a:ea typeface="微软雅黑"/>
              </a:rPr>
              <a:t>一百</a:t>
            </a:r>
            <a:r>
              <a:rPr sz="16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个成员里有多少个预报下雨：如果</a:t>
            </a:r>
            <a:r>
              <a:rPr sz="1600" b="0" i="0" dirty="0">
                <a:solidFill>
                  <a:srgbClr val="2C2C2C"/>
                </a:solidFill>
                <a:latin typeface="微软雅黑"/>
                <a:ea typeface="微软雅黑"/>
              </a:rPr>
              <a:t> 70 </a:t>
            </a:r>
            <a:r>
              <a:rPr sz="16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个成员都报下雨，降水概率就是</a:t>
            </a:r>
            <a:r>
              <a:rPr sz="1600" b="0" i="0" dirty="0">
                <a:solidFill>
                  <a:srgbClr val="2C2C2C"/>
                </a:solidFill>
                <a:latin typeface="微软雅黑"/>
                <a:ea typeface="微软雅黑"/>
              </a:rPr>
              <a:t> 70%。</a:t>
            </a:r>
            <a:r>
              <a:rPr sz="16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它诚实地把「有多大把握」告诉了使用者</a:t>
            </a:r>
            <a:r>
              <a:rPr sz="1600" b="0" i="0" dirty="0">
                <a:solidFill>
                  <a:srgbClr val="2C2C2C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37134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510" y="429514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 dirty="0" err="1">
                <a:solidFill>
                  <a:srgbClr val="1A2744"/>
                </a:solidFill>
                <a:latin typeface="微软雅黑"/>
                <a:ea typeface="微软雅黑"/>
              </a:rPr>
              <a:t>与数据预测的联系</a:t>
            </a:r>
            <a:endParaRPr sz="1600" b="1" i="0" dirty="0">
              <a:solidFill>
                <a:srgbClr val="1A2744"/>
              </a:solidFill>
              <a:latin typeface="微软雅黑"/>
              <a:ea typeface="微软雅黑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 dirty="0">
                <a:solidFill>
                  <a:srgbClr val="2C2C2C"/>
                </a:solidFill>
                <a:latin typeface="微软雅黑"/>
                <a:ea typeface="微软雅黑"/>
              </a:rPr>
              <a:t>这和机器学习里的多次重采样、置信区间是同一个思路：单个点的预测不可靠，看分布才可靠。后面讲交叉验证和随机森林时，你会再次见到「众多个体求稳健」这个思想。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232400"/>
            <a:ext cx="11186160" cy="1041400"/>
          </a:xfrm>
          <a:prstGeom prst="rect">
            <a:avLst/>
          </a:prstGeom>
          <a:solidFill>
            <a:srgbClr val="F2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359400"/>
            <a:ext cx="10817860" cy="812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 i="0">
                <a:solidFill>
                  <a:srgbClr val="B45309"/>
                </a:solidFill>
                <a:latin typeface="微软雅黑"/>
                <a:ea typeface="微软雅黑"/>
              </a:rPr>
              <a:t>随堂练习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i="0">
                <a:solidFill>
                  <a:srgbClr val="2C2C2C"/>
                </a:solidFill>
                <a:latin typeface="微软雅黑"/>
                <a:ea typeface="微软雅黑"/>
              </a:rPr>
              <a:t>明天下雨概率 70%，你带不带伞？要不要取消户外活动？讨论一下：同样一个概率，不同的人、不同的代价，会做出不同的决定。这正好预告了第五部分「从预测到建议」要讲的问题。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13 / 38 · 预测与建议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第2部分 · 启示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天气预报给我们的通用框架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35100"/>
          <a:ext cx="11183620" cy="33528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3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528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预测的要素</a:t>
                      </a:r>
                    </a:p>
                  </a:txBody>
                  <a:tcPr marL="127000" marR="101600" marT="38100" marB="38100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天气预报</a:t>
                      </a:r>
                    </a:p>
                  </a:txBody>
                  <a:tcPr marL="127000" marR="101600" marT="38100" marB="38100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通用预测模型</a:t>
                      </a:r>
                    </a:p>
                  </a:txBody>
                  <a:tcPr marL="127000" marR="101600" marT="38100" marB="38100" anchor="ctr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看什么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同化后的初始大气状态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输入特征 X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怎么推演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大气物理方程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模型假设与算法结构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误差从哪来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观测误差 + 混沌放大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数据噪声 + 模型偏差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怎么报告不确定性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集合预报 → 概率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置信区间或概率输出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有效多久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可预报性上限约 2 周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数据分布改变之前都有效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232400"/>
            <a:ext cx="11186160" cy="1041400"/>
          </a:xfrm>
          <a:prstGeom prst="rect">
            <a:avLst/>
          </a:prstGeom>
          <a:solidFill>
            <a:srgbClr val="F2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359400"/>
            <a:ext cx="10817860" cy="812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 i="0" dirty="0" err="1">
                <a:solidFill>
                  <a:srgbClr val="B45309"/>
                </a:solidFill>
                <a:latin typeface="微软雅黑"/>
                <a:ea typeface="微软雅黑"/>
              </a:rPr>
              <a:t>核心启示</a:t>
            </a:r>
            <a:endParaRPr sz="1200" b="1" i="0" dirty="0">
              <a:solidFill>
                <a:srgbClr val="1A2744"/>
              </a:solidFill>
              <a:latin typeface="微软雅黑"/>
              <a:ea typeface="微软雅黑"/>
            </a:endParaRP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i="0" dirty="0">
                <a:solidFill>
                  <a:srgbClr val="2C2C2C"/>
                </a:solidFill>
                <a:latin typeface="微软雅黑"/>
                <a:ea typeface="微软雅黑"/>
              </a:rPr>
              <a:t>预测 = 数据（看得见什么）+ 模型（怎么推演）+ </a:t>
            </a:r>
            <a:r>
              <a:rPr sz="15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不确定性</a:t>
            </a:r>
            <a:r>
              <a:rPr sz="1500" b="0" i="0" dirty="0">
                <a:solidFill>
                  <a:srgbClr val="2C2C2C"/>
                </a:solidFill>
                <a:latin typeface="微软雅黑"/>
                <a:ea typeface="微软雅黑"/>
              </a:rPr>
              <a:t>（</a:t>
            </a:r>
            <a:r>
              <a:rPr lang="zh-CN" altLang="en-US" sz="1500" dirty="0">
                <a:solidFill>
                  <a:srgbClr val="2C2C2C"/>
                </a:solidFill>
                <a:latin typeface="微软雅黑"/>
                <a:ea typeface="微软雅黑"/>
              </a:rPr>
              <a:t>多大程度相</a:t>
            </a:r>
            <a:r>
              <a:rPr sz="1500" b="0" i="0" dirty="0">
                <a:solidFill>
                  <a:srgbClr val="2C2C2C"/>
                </a:solidFill>
                <a:latin typeface="微软雅黑"/>
                <a:ea typeface="微软雅黑"/>
              </a:rPr>
              <a:t>信）。</a:t>
            </a:r>
            <a:r>
              <a:rPr sz="15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这三样缺一不可</a:t>
            </a:r>
            <a:r>
              <a:rPr sz="1500" b="0" i="0" dirty="0">
                <a:solidFill>
                  <a:srgbClr val="2C2C2C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14 / 38 · 预测与建议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737360"/>
            <a:ext cx="12191695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0" b="1" i="0">
                <a:solidFill>
                  <a:srgbClr val="2D3A54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80360"/>
            <a:ext cx="121916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第三部分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B8BFCC"/>
                </a:solidFill>
                <a:latin typeface="微软雅黑"/>
                <a:ea typeface="微软雅黑"/>
              </a:rPr>
              <a:t>案例二 · 利用数据构建预测模型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5870448" y="4617720"/>
            <a:ext cx="457200" cy="2743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AA3B2"/>
                </a:solidFill>
                <a:latin typeface="微软雅黑"/>
                <a:ea typeface="微软雅黑"/>
              </a:rPr>
              <a:t>15 / 38 · 预测与建议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第3部分 · 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构建预测模型（一）：前三个步骤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59460" y="1600200"/>
            <a:ext cx="22860" cy="4179570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770" y="1549400"/>
            <a:ext cx="146050" cy="14605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7900" y="1498600"/>
            <a:ext cx="215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B45309"/>
                </a:solidFill>
                <a:latin typeface="微软雅黑"/>
                <a:ea typeface="微软雅黑"/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7900" y="1752600"/>
            <a:ext cx="106807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定义问题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7900" y="2095500"/>
            <a:ext cx="10680700" cy="568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2C2C2C"/>
                </a:solidFill>
                <a:latin typeface="微软雅黑"/>
                <a:ea typeface="微软雅黑"/>
              </a:rPr>
              <a:t>先明确四件事：预测什么（标签 Y）、用什么信息（特征 X）、结果给谁用、决策窗口有多长。定义错了后面全白做——「预测客户会不会续费」和「预测客户什么时候续费」，是两个完全不同的模型。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770" y="3474085"/>
            <a:ext cx="146050" cy="14605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7900" y="3423285"/>
            <a:ext cx="215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B45309"/>
                </a:solidFill>
                <a:latin typeface="微软雅黑"/>
                <a:ea typeface="微软雅黑"/>
              </a:rPr>
              <a:t>STEP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7900" y="3677285"/>
            <a:ext cx="106807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收集数据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7900" y="4020185"/>
            <a:ext cx="10680700" cy="5689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>
                <a:solidFill>
                  <a:srgbClr val="2C2C2C"/>
                </a:solidFill>
                <a:latin typeface="微软雅黑"/>
                <a:ea typeface="微软雅黑"/>
              </a:rPr>
              <a:t>把历史样本整理成「特征 + 标签」的配对。数据的规模、质量、代表性直接决定模型能达到的上限——数据决定天花板，算法只是努力逼近天花板。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770" y="5398770"/>
            <a:ext cx="146050" cy="14605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7900" y="5347970"/>
            <a:ext cx="215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B45309"/>
                </a:solidFill>
                <a:latin typeface="微软雅黑"/>
                <a:ea typeface="微软雅黑"/>
              </a:rP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900" y="5601970"/>
            <a:ext cx="106807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特征工程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900" y="5944870"/>
            <a:ext cx="10680700" cy="3289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清洗缺失值和异常值、把类别编码成数字、构造更有信息量的新特征。这一步最费时间，也最可能带来效果提升</a:t>
            </a:r>
            <a:r>
              <a:rPr sz="1400" b="0" i="0" dirty="0">
                <a:solidFill>
                  <a:srgbClr val="2C2C2C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16 / 38 · 预测与建议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第3部分 · 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构建预测模型（二）：后三个步骤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59460" y="1600200"/>
            <a:ext cx="22860" cy="3807460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99770" y="1549400"/>
            <a:ext cx="146050" cy="14605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77900" y="1498600"/>
            <a:ext cx="215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B45309"/>
                </a:solidFill>
                <a:latin typeface="微软雅黑"/>
                <a:ea typeface="微软雅黑"/>
              </a:rPr>
              <a:t>STEP 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7900" y="1752600"/>
            <a:ext cx="106807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训练模型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7900" y="2095500"/>
            <a:ext cx="10680700" cy="3289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选一个算法（回归、树模型或集成方法</a:t>
            </a:r>
            <a:r>
              <a:rPr sz="1400" b="0" i="0" dirty="0">
                <a:solidFill>
                  <a:srgbClr val="2C2C2C"/>
                </a:solidFill>
                <a:latin typeface="微软雅黑"/>
                <a:ea typeface="微软雅黑"/>
              </a:rPr>
              <a:t>），</a:t>
            </a:r>
            <a:r>
              <a:rPr sz="14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在训练集上拟合出从</a:t>
            </a:r>
            <a:r>
              <a:rPr sz="1400" b="0" i="0" dirty="0">
                <a:solidFill>
                  <a:srgbClr val="2C2C2C"/>
                </a:solidFill>
                <a:latin typeface="微软雅黑"/>
                <a:ea typeface="微软雅黑"/>
              </a:rPr>
              <a:t> X 到 Y </a:t>
            </a:r>
            <a:r>
              <a:rPr sz="14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的映射关系</a:t>
            </a:r>
            <a:r>
              <a:rPr sz="1400" b="0" i="0" dirty="0">
                <a:solidFill>
                  <a:srgbClr val="2C2C2C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9770" y="3288029"/>
            <a:ext cx="146050" cy="14605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77900" y="3237230"/>
            <a:ext cx="215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B45309"/>
                </a:solidFill>
                <a:latin typeface="微软雅黑"/>
                <a:ea typeface="微软雅黑"/>
              </a:rPr>
              <a:t>STEP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7900" y="3491229"/>
            <a:ext cx="106807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评估与调优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7900" y="3834129"/>
            <a:ext cx="10680700" cy="3289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在模型「没见过」的测试集上打分，调整超参数、防止过拟合</a:t>
            </a:r>
            <a:r>
              <a:rPr sz="1400" b="0" i="0" dirty="0">
                <a:solidFill>
                  <a:srgbClr val="2C2C2C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770" y="5026660"/>
            <a:ext cx="146050" cy="146050"/>
          </a:xfrm>
          <a:prstGeom prst="rect">
            <a:avLst/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77900" y="4975860"/>
            <a:ext cx="2159000" cy="228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B45309"/>
                </a:solidFill>
                <a:latin typeface="微软雅黑"/>
                <a:ea typeface="微软雅黑"/>
              </a:rPr>
              <a:t>STEP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7900" y="5229860"/>
            <a:ext cx="10680700" cy="317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部署与迭代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900" y="5572760"/>
            <a:ext cx="10680700" cy="32893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接入真实业务场景做预测，并持续监控效果。一旦数据分布发生变化，就要重新训练</a:t>
            </a:r>
            <a:r>
              <a:rPr sz="1400" b="0" i="0" dirty="0">
                <a:solidFill>
                  <a:srgbClr val="2C2C2C"/>
                </a:solidFill>
                <a:latin typeface="微软雅黑"/>
                <a:ea typeface="微软雅黑"/>
              </a:rPr>
              <a:t>——</a:t>
            </a:r>
            <a:r>
              <a:rPr sz="14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模型是活的，不是交一次就完事</a:t>
            </a:r>
            <a:r>
              <a:rPr lang="zh-CN" altLang="en-US" sz="1400" b="0" i="0" dirty="0">
                <a:solidFill>
                  <a:srgbClr val="2C2C2C"/>
                </a:solidFill>
                <a:latin typeface="微软雅黑"/>
                <a:ea typeface="微软雅黑"/>
              </a:rPr>
              <a:t>了</a:t>
            </a:r>
            <a:r>
              <a:rPr sz="1400" b="0" i="0" dirty="0">
                <a:solidFill>
                  <a:srgbClr val="2C2C2C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17 / 38 · 预测与建议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第3部分 · 特征工程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数据准备与特征工程（一）：先处理脏数据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80820"/>
            <a:ext cx="11186160" cy="838200"/>
          </a:xfrm>
          <a:prstGeom prst="roundRect">
            <a:avLst>
              <a:gd name="adj" fmla="val 8000"/>
            </a:avLst>
          </a:prstGeom>
          <a:solidFill>
            <a:srgbClr val="234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1531620"/>
            <a:ext cx="10668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「垃圾进，垃圾出」——模型能有多强，取决于喂进去的数据有多干净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C7D2E0"/>
                </a:solidFill>
                <a:latin typeface="微软雅黑"/>
                <a:ea typeface="微软雅黑"/>
              </a:rPr>
              <a:t>特征工程 Feature Engineering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968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510" y="24206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缺失值处理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缺失的数据可以整行删掉，也可以用均值、中位数或众数补上。例：年龄缺失，用中位数填补。但盲目删除可能丢掉本来有价值的信息——有时候「缺失」本身就是信息，比如「没有测乳酸」往往说明医生当时判断病情不重。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9065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510" y="38303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异常值识别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要区分两类异常：一类是录入错误（比如体温 200℃ 这种不可能的值），另一类是真实的极端情况（罕见重症患者）。可以用箱线图或 Z-score 找出来，再决定删除、修正还是保留。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240020"/>
            <a:ext cx="10792460" cy="72517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37160" bIns="118872" rtlCol="0" anchor="ctr">
            <a:noAutofit/>
          </a:bodyPr>
          <a:lstStyle/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300" b="0" i="1" dirty="0">
                <a:solidFill>
                  <a:srgbClr val="94A3B8"/>
                </a:solidFill>
                <a:latin typeface="Consolas"/>
                <a:ea typeface="Consolas"/>
              </a:rPr>
              <a:t>df['age'].</a:t>
            </a:r>
            <a:r>
              <a:rPr sz="1300" b="0" i="1" dirty="0" err="1">
                <a:solidFill>
                  <a:srgbClr val="94A3B8"/>
                </a:solidFill>
                <a:latin typeface="Consolas"/>
                <a:ea typeface="Consolas"/>
              </a:rPr>
              <a:t>fillna</a:t>
            </a:r>
            <a:r>
              <a:rPr sz="1300" b="0" i="1" dirty="0">
                <a:solidFill>
                  <a:srgbClr val="94A3B8"/>
                </a:solidFill>
                <a:latin typeface="Consolas"/>
                <a:ea typeface="Consolas"/>
              </a:rPr>
              <a:t>(df['age'].median(), </a:t>
            </a:r>
            <a:r>
              <a:rPr sz="1300" b="0" i="1" dirty="0" err="1">
                <a:solidFill>
                  <a:srgbClr val="94A3B8"/>
                </a:solidFill>
                <a:latin typeface="Consolas"/>
                <a:ea typeface="Consolas"/>
              </a:rPr>
              <a:t>inplace</a:t>
            </a:r>
            <a:r>
              <a:rPr sz="1300" b="0" i="1" dirty="0">
                <a:solidFill>
                  <a:srgbClr val="94A3B8"/>
                </a:solidFill>
                <a:latin typeface="Consolas"/>
                <a:ea typeface="Consolas"/>
              </a:rPr>
              <a:t>=True)   # </a:t>
            </a:r>
            <a:r>
              <a:rPr sz="1300" b="0" i="1" dirty="0" err="1">
                <a:solidFill>
                  <a:srgbClr val="94A3B8"/>
                </a:solidFill>
                <a:latin typeface="Consolas"/>
                <a:ea typeface="Consolas"/>
              </a:rPr>
              <a:t>用中位数填补缺失的年龄</a:t>
            </a:r>
            <a:endParaRPr sz="1300" b="0" i="1" dirty="0">
              <a:solidFill>
                <a:srgbClr val="94A3B8"/>
              </a:solidFill>
              <a:latin typeface="Consolas"/>
              <a:ea typeface="Consolas"/>
            </a:endParaRP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300" b="0" i="0" dirty="0">
                <a:solidFill>
                  <a:srgbClr val="E2E8F0"/>
                </a:solidFill>
                <a:latin typeface="Consolas"/>
                <a:ea typeface="Consolas"/>
              </a:rPr>
              <a:t>df = df[(df['temp'] &gt; 34) &amp; (df['temp'] &lt; 43)]        # </a:t>
            </a:r>
            <a:r>
              <a:rPr sz="1300" b="0" i="0" dirty="0" err="1">
                <a:solidFill>
                  <a:srgbClr val="E2E8F0"/>
                </a:solidFill>
                <a:latin typeface="Consolas"/>
                <a:ea typeface="Consolas"/>
              </a:rPr>
              <a:t>剔除不可能的体温读数</a:t>
            </a:r>
            <a:endParaRPr sz="1300" b="0" i="0" dirty="0">
              <a:solidFill>
                <a:srgbClr val="E2E8F0"/>
              </a:solidFill>
              <a:latin typeface="Consolas"/>
              <a:ea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18 / 38 · 预测与建议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第3部分 · 特征工程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数据准备与特征工程（二）：把数据喂给模型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80820"/>
            <a:ext cx="11186160" cy="838200"/>
          </a:xfrm>
          <a:prstGeom prst="roundRect">
            <a:avLst>
              <a:gd name="adj" fmla="val 8000"/>
            </a:avLst>
          </a:prstGeom>
          <a:solidFill>
            <a:srgbClr val="234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1531620"/>
            <a:ext cx="10668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模型只认识数字——类别要编码，信息要构造出来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C7D2E0"/>
                </a:solidFill>
                <a:latin typeface="微软雅黑"/>
                <a:ea typeface="微软雅黑"/>
              </a:rPr>
              <a:t>特征构造 Feature Construction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968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510" y="24206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类别特征编码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模型只吃数字。「男/女」这类没有顺序的类别，用 one-hot 编码展开成若干列 0/1；「高/中/低」这类有顺序的类别，可以直接映射成 3/2/1，把大小关系保留下来。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9065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510" y="38303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构造新特征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把已有信息组合出更有用的变量。例：用身高和体重算出 BMI，往往比单独看身高、体重更能反映身体状况。这一步最需要业务理解，也最能体现建模者的功力。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240020"/>
            <a:ext cx="10792460" cy="72517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01168" tIns="118872" rIns="137160" bIns="118872" rtlCol="0" anchor="ctr">
            <a:noAutofit/>
          </a:bodyPr>
          <a:lstStyle/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300" b="0" i="1" dirty="0">
                <a:solidFill>
                  <a:srgbClr val="94A3B8"/>
                </a:solidFill>
                <a:latin typeface="Consolas"/>
                <a:ea typeface="Consolas"/>
              </a:rPr>
              <a:t>df = </a:t>
            </a:r>
            <a:r>
              <a:rPr sz="1300" b="0" i="1" dirty="0" err="1">
                <a:solidFill>
                  <a:srgbClr val="94A3B8"/>
                </a:solidFill>
                <a:latin typeface="Consolas"/>
                <a:ea typeface="Consolas"/>
              </a:rPr>
              <a:t>pd.get_dummies</a:t>
            </a:r>
            <a:r>
              <a:rPr sz="1300" b="0" i="1" dirty="0">
                <a:solidFill>
                  <a:srgbClr val="94A3B8"/>
                </a:solidFill>
                <a:latin typeface="Consolas"/>
                <a:ea typeface="Consolas"/>
              </a:rPr>
              <a:t>(df, columns=['gender'])          # </a:t>
            </a:r>
            <a:r>
              <a:rPr sz="1300" b="0" i="1" dirty="0" err="1">
                <a:solidFill>
                  <a:srgbClr val="94A3B8"/>
                </a:solidFill>
                <a:latin typeface="Consolas"/>
                <a:ea typeface="Consolas"/>
              </a:rPr>
              <a:t>性别做</a:t>
            </a:r>
            <a:r>
              <a:rPr sz="1300" b="0" i="1" dirty="0">
                <a:solidFill>
                  <a:srgbClr val="94A3B8"/>
                </a:solidFill>
                <a:latin typeface="Consolas"/>
                <a:ea typeface="Consolas"/>
              </a:rPr>
              <a:t> one-hot </a:t>
            </a:r>
            <a:r>
              <a:rPr sz="1300" b="0" i="1" dirty="0" err="1">
                <a:solidFill>
                  <a:srgbClr val="94A3B8"/>
                </a:solidFill>
                <a:latin typeface="Consolas"/>
                <a:ea typeface="Consolas"/>
              </a:rPr>
              <a:t>编码</a:t>
            </a:r>
            <a:endParaRPr sz="1300" b="0" i="1" dirty="0">
              <a:solidFill>
                <a:srgbClr val="94A3B8"/>
              </a:solidFill>
              <a:latin typeface="Consolas"/>
              <a:ea typeface="Consolas"/>
            </a:endParaRPr>
          </a:p>
          <a:p>
            <a:pPr>
              <a:lnSpc>
                <a:spcPct val="135000"/>
              </a:lnSpc>
              <a:spcAft>
                <a:spcPts val="200"/>
              </a:spcAft>
            </a:pPr>
            <a:r>
              <a:rPr sz="1300" b="0" i="0" dirty="0">
                <a:solidFill>
                  <a:srgbClr val="E2E8F0"/>
                </a:solidFill>
                <a:latin typeface="Consolas"/>
                <a:ea typeface="Consolas"/>
              </a:rPr>
              <a:t>df['</a:t>
            </a:r>
            <a:r>
              <a:rPr sz="1300" b="0" i="0" dirty="0" err="1">
                <a:solidFill>
                  <a:srgbClr val="E2E8F0"/>
                </a:solidFill>
                <a:latin typeface="Consolas"/>
                <a:ea typeface="Consolas"/>
              </a:rPr>
              <a:t>bmi</a:t>
            </a:r>
            <a:r>
              <a:rPr sz="1300" b="0" i="0" dirty="0">
                <a:solidFill>
                  <a:srgbClr val="E2E8F0"/>
                </a:solidFill>
                <a:latin typeface="Consolas"/>
                <a:ea typeface="Consolas"/>
              </a:rPr>
              <a:t>'] = df['weight'] / (df['height']/100)**2     # </a:t>
            </a:r>
            <a:r>
              <a:rPr sz="1300" b="0" i="0" dirty="0" err="1">
                <a:solidFill>
                  <a:srgbClr val="E2E8F0"/>
                </a:solidFill>
                <a:latin typeface="Consolas"/>
                <a:ea typeface="Consolas"/>
              </a:rPr>
              <a:t>用身高体重构造</a:t>
            </a:r>
            <a:r>
              <a:rPr sz="1300" b="0" i="0" dirty="0">
                <a:solidFill>
                  <a:srgbClr val="E2E8F0"/>
                </a:solidFill>
                <a:latin typeface="Consolas"/>
                <a:ea typeface="Consolas"/>
              </a:rPr>
              <a:t> BMI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19 / 38 · 预测与建议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第3部分 · 评估前提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训练集、验证集、测试集：为什么要把数据切开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80820"/>
            <a:ext cx="11186160" cy="838200"/>
          </a:xfrm>
          <a:prstGeom prst="roundRect">
            <a:avLst>
              <a:gd name="adj" fmla="val 8000"/>
            </a:avLst>
          </a:prstGeom>
          <a:solidFill>
            <a:srgbClr val="2D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1531620"/>
            <a:ext cx="10668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用做过的题给自己打分，等于自己骗自己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C7D2E0"/>
                </a:solidFill>
                <a:latin typeface="微软雅黑"/>
                <a:ea typeface="微软雅黑"/>
              </a:rPr>
              <a:t>数据划分 Train / Validation / Test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968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510" y="24206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训练集（约 70%）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模型在这里学习、拟合参数。训练集上分数高是应该的，说明不了任何问题——就像考前做过一模一样的题，考高分不能证明你真的懂了。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590713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510" y="3514513"/>
            <a:ext cx="10570210" cy="571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 dirty="0" err="1">
                <a:solidFill>
                  <a:srgbClr val="1A2744"/>
                </a:solidFill>
                <a:latin typeface="微软雅黑"/>
                <a:ea typeface="微软雅黑"/>
              </a:rPr>
              <a:t>验证集（约</a:t>
            </a:r>
            <a:r>
              <a:rPr sz="1600" b="1" i="0" dirty="0">
                <a:solidFill>
                  <a:srgbClr val="1A2744"/>
                </a:solidFill>
                <a:latin typeface="微软雅黑"/>
                <a:ea typeface="微软雅黑"/>
              </a:rPr>
              <a:t> 15%）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用来调超参数、比较不同算法。它帮你在「没完全见过」的数据上挑出最合适的那</a:t>
            </a:r>
            <a:r>
              <a:rPr lang="zh-CN" altLang="en-US" sz="1600" b="0" i="0" dirty="0">
                <a:solidFill>
                  <a:srgbClr val="2C2C2C"/>
                </a:solidFill>
                <a:latin typeface="微软雅黑"/>
                <a:ea typeface="微软雅黑"/>
              </a:rPr>
              <a:t>个</a:t>
            </a:r>
            <a:r>
              <a:rPr sz="1600" b="0" i="0" dirty="0">
                <a:solidFill>
                  <a:srgbClr val="2C2C2C"/>
                </a:solidFill>
                <a:latin typeface="微软雅黑"/>
                <a:ea typeface="微软雅黑"/>
              </a:rPr>
              <a:t>，</a:t>
            </a:r>
            <a:r>
              <a:rPr sz="16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管的是「选哪个模型</a:t>
            </a:r>
            <a:r>
              <a:rPr sz="1600" b="0" i="0" dirty="0">
                <a:solidFill>
                  <a:srgbClr val="2C2C2C"/>
                </a:solidFill>
                <a:latin typeface="微软雅黑"/>
                <a:ea typeface="微软雅黑"/>
              </a:rPr>
              <a:t>」。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430606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510" y="4354406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测试集（约 15%）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只在最后用一次，模拟真实世界里的新数据。写进报告、交给老板的分数必须来自这里，它管的是「这个模型到底行不行」。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52450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510" y="544830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 dirty="0" err="1">
                <a:solidFill>
                  <a:srgbClr val="1A2744"/>
                </a:solidFill>
                <a:latin typeface="微软雅黑"/>
                <a:ea typeface="微软雅黑"/>
              </a:rPr>
              <a:t>数据泄漏（Data</a:t>
            </a:r>
            <a:r>
              <a:rPr sz="1600" b="1" i="0" dirty="0">
                <a:solidFill>
                  <a:srgbClr val="1A2744"/>
                </a:solidFill>
                <a:latin typeface="微软雅黑"/>
                <a:ea typeface="微软雅黑"/>
              </a:rPr>
              <a:t> Leakage）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只要有「未来信息」或「测试集信息」混进了训练过程，就会得到虚高的分数。这是现实中最常见的翻车原因</a:t>
            </a:r>
            <a:r>
              <a:rPr sz="1600" b="0" i="0" dirty="0">
                <a:solidFill>
                  <a:srgbClr val="2C2C2C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20 / 38 · 预测与建议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第3部分 · 权衡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过拟合与欠拟合：偏差—方差权衡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" y="151130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5510" y="1435100"/>
            <a:ext cx="10570210" cy="5918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欠拟合（高偏差）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模型太简单，训练集和测试集上都表现很差——就是没学会。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2174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510" y="2141220"/>
            <a:ext cx="10570210" cy="5918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过拟合（高方差）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模型把噪声也背下来了：训练集近乎满分，测试集却崩盘。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92354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510" y="2847340"/>
            <a:ext cx="10570210" cy="59182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交叉验证</a:t>
            </a:r>
          </a:p>
          <a:p>
            <a:pPr algn="l">
              <a:lnSpc>
                <a:spcPct val="125000"/>
              </a:lnSpc>
              <a:spcAft>
                <a:spcPts val="3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把数据切成 K 份轮流当验证集，用有限的数据更稳地估计真实误差。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1990" y="6055614"/>
            <a:ext cx="10667536" cy="6350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761990" y="3742181"/>
            <a:ext cx="6350" cy="2313432"/>
          </a:xfrm>
          <a:prstGeom prst="line">
            <a:avLst/>
          </a:prstGeom>
          <a:ln w="19050">
            <a:solidFill>
              <a:srgbClr val="4A556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157084" y="4057650"/>
            <a:ext cx="3358298" cy="788669"/>
          </a:xfrm>
          <a:prstGeom prst="line">
            <a:avLst/>
          </a:prstGeom>
          <a:ln w="381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4515383" y="4846320"/>
            <a:ext cx="6716597" cy="1051560"/>
          </a:xfrm>
          <a:prstGeom prst="line">
            <a:avLst/>
          </a:prstGeom>
          <a:ln w="381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57084" y="4846320"/>
            <a:ext cx="5333768" cy="1051560"/>
          </a:xfrm>
          <a:prstGeom prst="line">
            <a:avLst/>
          </a:prstGeom>
          <a:ln w="38100">
            <a:solidFill>
              <a:srgbClr val="327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6490853" y="4057650"/>
            <a:ext cx="4741127" cy="788669"/>
          </a:xfrm>
          <a:prstGeom prst="line">
            <a:avLst/>
          </a:prstGeom>
          <a:ln w="38100">
            <a:solidFill>
              <a:srgbClr val="327EC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157084" y="4951476"/>
            <a:ext cx="2864431" cy="683513"/>
          </a:xfrm>
          <a:prstGeom prst="line">
            <a:avLst/>
          </a:prstGeom>
          <a:ln w="44450">
            <a:solidFill>
              <a:srgbClr val="1A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4021515" y="5634990"/>
            <a:ext cx="2963204" cy="6350"/>
          </a:xfrm>
          <a:prstGeom prst="line">
            <a:avLst/>
          </a:prstGeom>
          <a:ln w="44450">
            <a:solidFill>
              <a:srgbClr val="1A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6984720" y="5056632"/>
            <a:ext cx="4247259" cy="578358"/>
          </a:xfrm>
          <a:prstGeom prst="line">
            <a:avLst/>
          </a:prstGeom>
          <a:ln w="44450">
            <a:solidFill>
              <a:srgbClr val="1A27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293306" y="3794760"/>
            <a:ext cx="6350" cy="2260854"/>
          </a:xfrm>
          <a:prstGeom prst="line">
            <a:avLst/>
          </a:prstGeom>
          <a:ln w="25400">
            <a:solidFill>
              <a:srgbClr val="2D8A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87400" y="6108700"/>
            <a:ext cx="2743200" cy="210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模型复杂度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" y="4699000"/>
            <a:ext cx="914400" cy="2108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误差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5858" y="3794760"/>
            <a:ext cx="2568110" cy="21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B45309"/>
                </a:solidFill>
                <a:latin typeface="微软雅黑"/>
                <a:ea typeface="微软雅黑"/>
              </a:rPr>
              <a:t>偏差（欠拟合）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51604" y="3847338"/>
            <a:ext cx="2370563" cy="21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327ECB"/>
                </a:solidFill>
                <a:latin typeface="微软雅黑"/>
                <a:ea typeface="微软雅黑"/>
              </a:rPr>
              <a:t>方差（过拟合）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2930" y="5161787"/>
            <a:ext cx="2963204" cy="21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1A2744"/>
                </a:solidFill>
                <a:latin typeface="微软雅黑"/>
                <a:ea typeface="微软雅黑"/>
              </a:rPr>
              <a:t>总误差（测试误差）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2505" y="3663315"/>
            <a:ext cx="1580375" cy="2120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 i="0">
                <a:solidFill>
                  <a:srgbClr val="2D8A5E"/>
                </a:solidFill>
                <a:latin typeface="微软雅黑"/>
                <a:ea typeface="微软雅黑"/>
              </a:rPr>
              <a:t>最佳复杂度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49725" y="5871590"/>
            <a:ext cx="1481602" cy="195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B91C1C"/>
                </a:solidFill>
                <a:latin typeface="微软雅黑"/>
                <a:ea typeface="微软雅黑"/>
              </a:rPr>
              <a:t>欠拟合区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6322" y="5871590"/>
            <a:ext cx="1481602" cy="1955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B91C1C"/>
                </a:solidFill>
                <a:latin typeface="微软雅黑"/>
                <a:ea typeface="微软雅黑"/>
              </a:rPr>
              <a:t>过拟合区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21 / 38 · 预测与建议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第3部分 · 算法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常用预测算法一览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35100"/>
            <a:ext cx="5466080" cy="1447800"/>
          </a:xfrm>
          <a:prstGeom prst="roundRect">
            <a:avLst>
              <a:gd name="adj" fmla="val 8000"/>
            </a:avLst>
          </a:prstGeom>
          <a:solidFill>
            <a:srgbClr val="FAF8F5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4520" y="1562100"/>
            <a:ext cx="526288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500" b="1" i="0">
                <a:solidFill>
                  <a:srgbClr val="1A2744"/>
                </a:solidFill>
                <a:latin typeface="微软雅黑"/>
                <a:ea typeface="微软雅黑"/>
              </a:rPr>
              <a:t>线性回归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050" b="0" i="0">
                <a:solidFill>
                  <a:srgbClr val="4A5568"/>
                </a:solidFill>
                <a:latin typeface="微软雅黑"/>
                <a:ea typeface="微软雅黑"/>
              </a:rPr>
              <a:t>Linear Regression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4520" y="2197100"/>
            <a:ext cx="526288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微软雅黑"/>
                <a:ea typeface="微软雅黑"/>
              </a:rPr>
              <a:t>拟合一条直线或超平面来预测连续值。优点是简单、可解释（系数就是每个特征的影响大小），适合关系近似线性、样本量不太大的场景。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23000" y="1435100"/>
            <a:ext cx="5466080" cy="1447800"/>
          </a:xfrm>
          <a:prstGeom prst="roundRect">
            <a:avLst>
              <a:gd name="adj" fmla="val 8000"/>
            </a:avLst>
          </a:prstGeom>
          <a:solidFill>
            <a:srgbClr val="FAF8F5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324600" y="1562100"/>
            <a:ext cx="526288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500" b="1" i="0">
                <a:solidFill>
                  <a:srgbClr val="1A2744"/>
                </a:solidFill>
                <a:latin typeface="微软雅黑"/>
                <a:ea typeface="微软雅黑"/>
              </a:rPr>
              <a:t>逻辑回归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050" b="0" i="0">
                <a:solidFill>
                  <a:srgbClr val="4A5568"/>
                </a:solidFill>
                <a:latin typeface="微软雅黑"/>
                <a:ea typeface="微软雅黑"/>
              </a:rPr>
              <a:t>Logistic Regression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2197100"/>
            <a:ext cx="526288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微软雅黑"/>
                <a:ea typeface="微软雅黑"/>
              </a:rPr>
              <a:t>分类的常用工具，输出「属于某一类的概率」，而不是硬邦邦的类别。医疗模型很爱用它——概率输出方便设预警阈值。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" y="3060700"/>
            <a:ext cx="5466080" cy="1447800"/>
          </a:xfrm>
          <a:prstGeom prst="roundRect">
            <a:avLst>
              <a:gd name="adj" fmla="val 8000"/>
            </a:avLst>
          </a:prstGeom>
          <a:solidFill>
            <a:srgbClr val="FAF8F5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04520" y="3187700"/>
            <a:ext cx="526288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500" b="1" i="0">
                <a:solidFill>
                  <a:srgbClr val="1A2744"/>
                </a:solidFill>
                <a:latin typeface="微软雅黑"/>
                <a:ea typeface="微软雅黑"/>
              </a:rPr>
              <a:t>决策树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050" b="0" i="0">
                <a:solidFill>
                  <a:srgbClr val="4A5568"/>
                </a:solidFill>
                <a:latin typeface="微软雅黑"/>
                <a:ea typeface="微软雅黑"/>
              </a:rPr>
              <a:t>Decision Tree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4520" y="3822700"/>
            <a:ext cx="526288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微软雅黑"/>
                <a:ea typeface="微软雅黑"/>
              </a:rPr>
              <a:t>按「体温是否高于 38℃」这样的条件一层层往下分。规则可以画出来，可解释性强；但单棵树容易过拟合，通常作为集成模型的基础。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23000" y="3060700"/>
            <a:ext cx="5466080" cy="1447800"/>
          </a:xfrm>
          <a:prstGeom prst="roundRect">
            <a:avLst>
              <a:gd name="adj" fmla="val 8000"/>
            </a:avLst>
          </a:prstGeom>
          <a:solidFill>
            <a:srgbClr val="FAF8F5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24600" y="3187700"/>
            <a:ext cx="526288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500" b="1" i="0">
                <a:solidFill>
                  <a:srgbClr val="1A2744"/>
                </a:solidFill>
                <a:latin typeface="微软雅黑"/>
                <a:ea typeface="微软雅黑"/>
              </a:rPr>
              <a:t>随机森林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050" b="0" i="0">
                <a:solidFill>
                  <a:srgbClr val="4A5568"/>
                </a:solidFill>
                <a:latin typeface="微软雅黑"/>
                <a:ea typeface="微软雅黑"/>
              </a:rPr>
              <a:t>Random Forest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24600" y="3822700"/>
            <a:ext cx="526288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 dirty="0" err="1">
                <a:solidFill>
                  <a:srgbClr val="4A5568"/>
                </a:solidFill>
                <a:latin typeface="微软雅黑"/>
                <a:ea typeface="微软雅黑"/>
              </a:rPr>
              <a:t>训练很多棵随机差异化的树，让它们投票或取平均。能大幅降低过拟合，稳健好用</a:t>
            </a:r>
            <a:r>
              <a:rPr sz="1200" b="0" i="0" dirty="0">
                <a:solidFill>
                  <a:srgbClr val="4A5568"/>
                </a:solidFill>
                <a:latin typeface="微软雅黑"/>
                <a:ea typeface="微软雅黑"/>
              </a:rPr>
              <a:t>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686300"/>
            <a:ext cx="5466080" cy="1447800"/>
          </a:xfrm>
          <a:prstGeom prst="roundRect">
            <a:avLst>
              <a:gd name="adj" fmla="val 8000"/>
            </a:avLst>
          </a:prstGeom>
          <a:solidFill>
            <a:srgbClr val="FAF8F5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4520" y="4813300"/>
            <a:ext cx="526288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500" b="1" i="0">
                <a:solidFill>
                  <a:srgbClr val="1A2744"/>
                </a:solidFill>
                <a:latin typeface="微软雅黑"/>
                <a:ea typeface="微软雅黑"/>
              </a:rPr>
              <a:t>梯度提升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050" b="0" i="0">
                <a:solidFill>
                  <a:srgbClr val="4A5568"/>
                </a:solidFill>
                <a:latin typeface="微软雅黑"/>
                <a:ea typeface="微软雅黑"/>
              </a:rPr>
              <a:t>XGBoost / LightGBM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4520" y="5448300"/>
            <a:ext cx="526288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微软雅黑"/>
                <a:ea typeface="微软雅黑"/>
              </a:rPr>
              <a:t>一棵接一棵地串行训练，每棵都去修正上一棵犯的错。精度通常最高，是数据竞赛的常胜将军；代价是需要更多调参，可解释性也弱一些。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23000" y="4686300"/>
            <a:ext cx="5466080" cy="1447800"/>
          </a:xfrm>
          <a:prstGeom prst="roundRect">
            <a:avLst>
              <a:gd name="adj" fmla="val 8000"/>
            </a:avLst>
          </a:prstGeom>
          <a:solidFill>
            <a:srgbClr val="FAF8F5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324600" y="4813300"/>
            <a:ext cx="526288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500" b="1" i="0">
                <a:solidFill>
                  <a:srgbClr val="1A2744"/>
                </a:solidFill>
                <a:latin typeface="微软雅黑"/>
                <a:ea typeface="微软雅黑"/>
              </a:rPr>
              <a:t>没有免费午餐</a:t>
            </a:r>
          </a:p>
          <a:p>
            <a:pPr algn="l">
              <a:lnSpc>
                <a:spcPct val="120000"/>
              </a:lnSpc>
              <a:spcAft>
                <a:spcPts val="100"/>
              </a:spcAft>
            </a:pPr>
            <a:r>
              <a:rPr sz="1050" b="0" i="0">
                <a:solidFill>
                  <a:srgbClr val="4A5568"/>
                </a:solidFill>
                <a:latin typeface="微软雅黑"/>
                <a:ea typeface="微软雅黑"/>
              </a:rPr>
              <a:t>No Free Lunch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24600" y="5448300"/>
            <a:ext cx="5262880" cy="584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微软雅黑"/>
                <a:ea typeface="微软雅黑"/>
              </a:rPr>
              <a:t>不存在「最好的算法」。选型取决于数据量、可解释性需求、精度要求和算力预算。先跑一个简单模型做基线，再逐步升级，是最稳的路线。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22 / 38 · 预测与建议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第3部分 · 评估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模型评估（一）：混淆矩阵与四个指标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" y="151130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5510" y="143510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混淆矩阵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把「模型预测」和「真实情况」交叉成一张 2×2 表。四个格子分别是 TP、FP、FN、TN，所有分类评估指标都建立在这张表上。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2844800"/>
          <a:ext cx="11182350" cy="16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727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27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7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预测 \ 实际</a:t>
                      </a:r>
                    </a:p>
                  </a:txBody>
                  <a:tcPr marL="127000" marR="101600" marT="38100" marB="38100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实际：有病（阳性）</a:t>
                      </a:r>
                    </a:p>
                  </a:txBody>
                  <a:tcPr marL="127000" marR="101600" marT="38100" marB="38100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实际：没病（阴性）</a:t>
                      </a:r>
                    </a:p>
                  </a:txBody>
                  <a:tcPr marL="127000" marR="101600" marT="38100" marB="38100" anchor="ctr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预测：有病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TP 真阳性（预测对了）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FP 假阳性（误报）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预测：没病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FN 假阴性（漏报）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TN 真阴性（预测对了）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" name="Oval 10"/>
          <p:cNvSpPr/>
          <p:nvPr/>
        </p:nvSpPr>
        <p:spPr>
          <a:xfrm>
            <a:off x="502920" y="5029200"/>
            <a:ext cx="63500" cy="77470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" y="5029200"/>
            <a:ext cx="11186160" cy="774700"/>
          </a:xfrm>
          <a:prstGeom prst="rect">
            <a:avLst/>
          </a:prstGeom>
          <a:solidFill>
            <a:srgbClr val="F2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5156200"/>
            <a:ext cx="10817860" cy="5461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i="0">
                <a:solidFill>
                  <a:srgbClr val="2C2C2C"/>
                </a:solidFill>
                <a:latin typeface="微软雅黑"/>
                <a:ea typeface="微软雅黑"/>
              </a:rPr>
              <a:t>四个指标的分母完全不同：敏感度 = TP/(TP+FN)，衡量「有病的人里抓出来多少」；特异度 = TN/(TN+FP)，衡量「没病的人里排除了多少」；PPV = TP/(TP+FP)，衡量「报了警的人里有多少是真的」。分母换成谁，指标的含义就完全变了。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23 / 38 · 预测与建议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第3部分 · 评估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模型评估（二）：ROC 曲线与 AUC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" y="151130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5510" y="143510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ROC 曲线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把判定阈值从高到低慢慢移动，每移动一次就得到一个「敏感度—误报率」的点，把这些点连起来，就是 ROC 曲线。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510" y="2618316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AUC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曲线下方的面积，取值在 0 到 1 之间。AUC = 0.5 相当于随机猜，AUC = 1 是完美区分。它衡量的是模型把「真有病的人」排在「没病的人」前面的整体能力。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24 / 38 · 预测与建议</a:t>
            </a:r>
          </a:p>
        </p:txBody>
      </p:sp>
      <p:sp>
        <p:nvSpPr>
          <p:cNvPr id="17" name="Oval 10"/>
          <p:cNvSpPr/>
          <p:nvPr/>
        </p:nvSpPr>
        <p:spPr>
          <a:xfrm>
            <a:off x="685800" y="3877733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1"/>
          <p:cNvSpPr txBox="1"/>
          <p:nvPr/>
        </p:nvSpPr>
        <p:spPr>
          <a:xfrm>
            <a:off x="905510" y="3801533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 dirty="0">
                <a:solidFill>
                  <a:srgbClr val="1A2744"/>
                </a:solidFill>
                <a:latin typeface="微软雅黑"/>
                <a:ea typeface="微软雅黑"/>
              </a:rPr>
              <a:t>高 AUC </a:t>
            </a:r>
            <a:r>
              <a:rPr sz="1600" b="1" i="0" dirty="0" err="1">
                <a:solidFill>
                  <a:srgbClr val="1A2744"/>
                </a:solidFill>
                <a:latin typeface="微软雅黑"/>
                <a:ea typeface="微软雅黑"/>
              </a:rPr>
              <a:t>不等于临床有用</a:t>
            </a:r>
            <a:endParaRPr sz="1600" b="1" i="0" dirty="0">
              <a:solidFill>
                <a:srgbClr val="1A2744"/>
              </a:solidFill>
              <a:latin typeface="微软雅黑"/>
              <a:ea typeface="微软雅黑"/>
            </a:endParaRP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 dirty="0">
                <a:solidFill>
                  <a:srgbClr val="2C2C2C"/>
                </a:solidFill>
                <a:latin typeface="微软雅黑"/>
                <a:ea typeface="微软雅黑"/>
              </a:rPr>
              <a:t>AUC </a:t>
            </a:r>
            <a:r>
              <a:rPr sz="16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是平均意义上的区分能力。真正决定临床价值的，是选定阈值之后的</a:t>
            </a:r>
            <a:r>
              <a:rPr sz="1600" b="0" i="0" dirty="0">
                <a:solidFill>
                  <a:srgbClr val="2C2C2C"/>
                </a:solidFill>
                <a:latin typeface="微软雅黑"/>
                <a:ea typeface="微软雅黑"/>
              </a:rPr>
              <a:t> PPV </a:t>
            </a:r>
            <a:r>
              <a:rPr sz="1600" b="0" i="0" dirty="0" err="1">
                <a:solidFill>
                  <a:srgbClr val="2C2C2C"/>
                </a:solidFill>
                <a:latin typeface="微软雅黑"/>
                <a:ea typeface="微软雅黑"/>
              </a:rPr>
              <a:t>和漏检率</a:t>
            </a:r>
            <a:r>
              <a:rPr sz="1600" b="0" i="0" dirty="0">
                <a:solidFill>
                  <a:srgbClr val="2C2C2C"/>
                </a:solidFill>
                <a:latin typeface="微软雅黑"/>
                <a:ea typeface="微软雅黑"/>
              </a:rPr>
              <a:t>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第3部分 · 澄清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特征重要性不等于因果效应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35100"/>
          <a:ext cx="11183620" cy="2768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8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7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对比项</a:t>
                      </a:r>
                    </a:p>
                  </a:txBody>
                  <a:tcPr marL="127000" marR="101600" marT="38100" marB="38100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特征重要性（用于预测）</a:t>
                      </a:r>
                    </a:p>
                  </a:txBody>
                  <a:tcPr marL="127000" marR="101600" marT="38100" marB="38100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因果效应（用于干预）</a:t>
                      </a:r>
                    </a:p>
                  </a:txBody>
                  <a:tcPr marL="127000" marR="101600" marT="38100" marB="38100" anchor="ctr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要回答的问题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哪个变量能帮我们把结果猜得更准？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如果我改变这个变量，结果会真的改变吗？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怎么衡量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分裂增益、置换重要性（由算法给出）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因果估计：双重差分、工具变量、随机实验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凭什么成立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只要相关关系足够稳定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必须构造反事实，排除混淆因素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常见的坑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和结果高度相关的特征，重要性往往很高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重要性高 ≠ 可以拿它当政策抓手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787900"/>
            <a:ext cx="11186160" cy="1041400"/>
          </a:xfrm>
          <a:prstGeom prst="rect">
            <a:avLst/>
          </a:prstGeom>
          <a:solidFill>
            <a:srgbClr val="F2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4914900"/>
            <a:ext cx="10817860" cy="812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 i="0">
                <a:solidFill>
                  <a:srgbClr val="B45309"/>
                </a:solidFill>
                <a:latin typeface="微软雅黑"/>
                <a:ea typeface="微软雅黑"/>
              </a:rPr>
              <a:t>一个经典例子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i="0">
                <a:solidFill>
                  <a:srgbClr val="2C2C2C"/>
                </a:solidFill>
                <a:latin typeface="微软雅黑"/>
                <a:ea typeface="微软雅黑"/>
              </a:rPr>
              <a:t>雨伞销量和下雨高度相关，在预测「会不会下雨」时特征重要性极高——但让商店多卖雨伞，并不会因此下雨。预测模型告诉你什么是相关的，因果模型才告诉你干预有没有用。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25 / 38 · 预测与建议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737360"/>
            <a:ext cx="12191695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0" b="1" i="0">
                <a:solidFill>
                  <a:srgbClr val="2D3A54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80360"/>
            <a:ext cx="121916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第四部分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B8BFCC"/>
                </a:solidFill>
                <a:latin typeface="微软雅黑"/>
                <a:ea typeface="微软雅黑"/>
              </a:rPr>
              <a:t>案例三 · 败血症预测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5870448" y="4617720"/>
            <a:ext cx="457200" cy="2743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AA3B2"/>
                </a:solidFill>
                <a:latin typeface="微软雅黑"/>
                <a:ea typeface="微软雅黑"/>
              </a:rPr>
              <a:t>26 / 38 · 预测与建议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第4部分 · 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败血症：一个必须提前几小时发现的病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80820"/>
            <a:ext cx="11186160" cy="838200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1531620"/>
            <a:ext cx="10668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全球每年约 4900 万例、1100 万死亡（WHO 估计）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C7D2E0"/>
                </a:solidFill>
                <a:latin typeface="微软雅黑"/>
                <a:ea typeface="微软雅黑"/>
              </a:rPr>
              <a:t>败血症 Sepsis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968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510" y="24206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败血症是什么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身体对感染的反应失控，引发全身性炎症，进而导致多器官功能障碍甚至衰竭。它是 ICU 里最凶险的急症之一，死亡率远高于普通感染。简单说就是：感染 → 炎症失控 → 器官衰竭。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510" y="3357879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为什么难以及时识别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早期表现只是发热、心跳快、呼吸急促、精神差，和普通感冒或一般感染几乎没法区分。等到典型症状出现，往往已经错过了最佳治疗窗口。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37134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510" y="429514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黄金窗口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每延迟一小时使用抗生素，死亡风险就明显上升。如果能提前几个小时把高风险患者找出来、尽早干预，就可能救回一条命——这就是预测模型在这里登场的理由。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27 / 38 · 预测与建议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第4部分 · 案例主角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Epic 败血症模型是怎么建出来的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85800" y="151130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05510" y="143510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背景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Epic 是美国最大的电子病历（EHR）厂商，它的败血症预测模型直接嵌进病历系统，被全美数百家医院使用，自动监控住院患者。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2573866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05510" y="2497666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输入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电子病历里的生命体征（体温、血压、心率）、实验室检验（白细胞、乳酸）、既往病史和用药记录等，共同组成特征 X。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3636433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510" y="3560233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打分机制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系统每 15 分钟用模型重算一次风险分（0 到 100），一旦超过阈值，就向临床医生弹出预警——这是把「预测」变成「行动」的关键设计。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622800"/>
            <a:ext cx="2034032" cy="1651000"/>
          </a:xfrm>
          <a:prstGeom prst="roundRect">
            <a:avLst>
              <a:gd name="adj" fmla="val 8000"/>
            </a:avLst>
          </a:prstGeom>
          <a:solidFill>
            <a:srgbClr val="F2EFE9"/>
          </a:solidFill>
          <a:ln w="9525">
            <a:solidFill>
              <a:srgbClr val="1A2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79120" y="5054600"/>
            <a:ext cx="1881632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A2744"/>
                </a:solidFill>
                <a:latin typeface="微软雅黑"/>
                <a:ea typeface="微软雅黑"/>
              </a:rPr>
              <a:t>电子病历 EHR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9120" y="5461000"/>
            <a:ext cx="1881632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微软雅黑"/>
                <a:ea typeface="微软雅黑"/>
              </a:rPr>
              <a:t>体征·检验·病史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5052" y="5270500"/>
            <a:ext cx="15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90952" y="4622800"/>
            <a:ext cx="2034032" cy="1651000"/>
          </a:xfrm>
          <a:prstGeom prst="roundRect">
            <a:avLst>
              <a:gd name="adj" fmla="val 8000"/>
            </a:avLst>
          </a:prstGeom>
          <a:solidFill>
            <a:srgbClr val="F2EFE9"/>
          </a:solidFill>
          <a:ln w="9525">
            <a:solidFill>
              <a:srgbClr val="1A2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867152" y="5054600"/>
            <a:ext cx="1881632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A2744"/>
                </a:solidFill>
                <a:latin typeface="微软雅黑"/>
                <a:ea typeface="微软雅黑"/>
              </a:rPr>
              <a:t>特征 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67152" y="5461000"/>
            <a:ext cx="1881632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微软雅黑"/>
                <a:ea typeface="微软雅黑"/>
              </a:rPr>
              <a:t>清洗·编码·筛选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63084" y="5270500"/>
            <a:ext cx="15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78984" y="4622800"/>
            <a:ext cx="2034032" cy="16510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 w="9525">
            <a:solidFill>
              <a:srgbClr val="1A2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155184" y="5054600"/>
            <a:ext cx="1881632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预测模型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55184" y="5461000"/>
            <a:ext cx="1881632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C7D2E0"/>
                </a:solidFill>
                <a:latin typeface="微软雅黑"/>
                <a:ea typeface="微软雅黑"/>
              </a:rPr>
              <a:t>每 15 分钟打一次分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1116" y="5270500"/>
            <a:ext cx="15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67016" y="4622800"/>
            <a:ext cx="2034032" cy="1651000"/>
          </a:xfrm>
          <a:prstGeom prst="roundRect">
            <a:avLst>
              <a:gd name="adj" fmla="val 8000"/>
            </a:avLst>
          </a:prstGeom>
          <a:solidFill>
            <a:srgbClr val="F2EFE9"/>
          </a:solidFill>
          <a:ln w="9525">
            <a:solidFill>
              <a:srgbClr val="1A2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443216" y="5054600"/>
            <a:ext cx="1881632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1A2744"/>
                </a:solidFill>
                <a:latin typeface="微软雅黑"/>
                <a:ea typeface="微软雅黑"/>
              </a:rPr>
              <a:t>风险分 0–100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3216" y="5461000"/>
            <a:ext cx="1881632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4A5568"/>
                </a:solidFill>
                <a:latin typeface="微软雅黑"/>
                <a:ea typeface="微软雅黑"/>
              </a:rPr>
              <a:t>超过阈值就预警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39148" y="5270500"/>
            <a:ext cx="152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→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655048" y="4622800"/>
            <a:ext cx="2034032" cy="1651000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 w="9525">
            <a:solidFill>
              <a:srgbClr val="1A27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731248" y="5054600"/>
            <a:ext cx="1881632" cy="3556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微软雅黑"/>
                <a:ea typeface="微软雅黑"/>
              </a:rPr>
              <a:t>医生弹窗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31248" y="5461000"/>
            <a:ext cx="1881632" cy="711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150" b="0" i="0">
                <a:solidFill>
                  <a:srgbClr val="C7D2E0"/>
                </a:solidFill>
                <a:latin typeface="微软雅黑"/>
                <a:ea typeface="微软雅黑"/>
              </a:rPr>
              <a:t>转为临床行动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28 / 38 · 预测与建议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第4部分 · 评估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厂商宣称与独立外部验证的差距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35100"/>
          <a:ext cx="11183620" cy="33701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6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304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18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指标</a:t>
                      </a:r>
                    </a:p>
                  </a:txBody>
                  <a:tcPr marL="127000" marR="101600" marT="38100" marB="38100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厂商宣称（样本内回顾）</a:t>
                      </a:r>
                    </a:p>
                  </a:txBody>
                  <a:tcPr marL="127000" marR="101600" marT="38100" marB="38100" anchor="ctr">
                    <a:solidFill>
                      <a:srgbClr val="1A274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独立外部验证（密歇根大学）</a:t>
                      </a:r>
                    </a:p>
                  </a:txBody>
                  <a:tcPr marL="127000" marR="101600" marT="38100" marB="38100" anchor="ctr">
                    <a:solidFill>
                      <a:srgbClr val="1A27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AUC（区分能力）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0.76 – 0.83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0.63（95% CI 0.62–0.64）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敏感度（抓得到吗）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33%，漏掉了 67% 的真实败血症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特异度（排得掉吗）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83%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PPV（预警有多少是真的）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12%，十次预警里大约只有一次是真败血症</a:t>
                      </a:r>
                    </a:p>
                  </a:txBody>
                  <a:tcPr marL="127000" marR="101600" marT="38100" marB="38100" anchor="ctr">
                    <a:solidFill>
                      <a:srgbClr val="FAF8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1" i="0">
                          <a:solidFill>
                            <a:srgbClr val="1A2744"/>
                          </a:solidFill>
                          <a:latin typeface="微软雅黑"/>
                          <a:ea typeface="微软雅黑"/>
                        </a:rPr>
                        <a:t>预警范围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0000"/>
                        </a:lnSpc>
                      </a:pPr>
                      <a:r>
                        <a:rPr sz="1500" b="0" i="0">
                          <a:solidFill>
                            <a:srgbClr val="2C2C2C"/>
                          </a:solidFill>
                          <a:latin typeface="微软雅黑"/>
                          <a:ea typeface="微软雅黑"/>
                        </a:rPr>
                        <a:t>18% 的住院患者都收到过预警</a:t>
                      </a:r>
                    </a:p>
                  </a:txBody>
                  <a:tcPr marL="127000" marR="1016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5232400"/>
            <a:ext cx="11186160" cy="1041400"/>
          </a:xfrm>
          <a:prstGeom prst="rect">
            <a:avLst/>
          </a:prstGeom>
          <a:solidFill>
            <a:srgbClr val="F2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359400"/>
            <a:ext cx="10817860" cy="812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 i="0">
                <a:solidFill>
                  <a:srgbClr val="B45309"/>
                </a:solidFill>
                <a:latin typeface="微软雅黑"/>
                <a:ea typeface="微软雅黑"/>
              </a:rPr>
              <a:t>数据来源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i="0">
                <a:solidFill>
                  <a:srgbClr val="2C2C2C"/>
                </a:solidFill>
                <a:latin typeface="微软雅黑"/>
                <a:ea typeface="微软雅黑"/>
              </a:rPr>
              <a:t>Wong 等 2021 年发表在 JAMA Internal Medicine 上的外部验证，覆盖密歇根大学医院的 2.8 万名患者、3.8 万次住院。厂商的高分，不等于它在真实病房里好用。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29 / 38 · 预测与建议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第4部分 · 根因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为什么失灵：目标定义与特征泄漏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80820"/>
            <a:ext cx="11186160" cy="838200"/>
          </a:xfrm>
          <a:prstGeom prst="roundRect">
            <a:avLst>
              <a:gd name="adj" fmla="val 8000"/>
            </a:avLst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1531620"/>
            <a:ext cx="10668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模型可能只是在预测「医生已经发现的事」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C7D2E0"/>
                </a:solidFill>
                <a:latin typeface="微软雅黑"/>
                <a:ea typeface="微软雅黑"/>
              </a:rPr>
              <a:t>数据泄漏 Data Leakage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968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510" y="24206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目标定义出了问题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模型把「败血症发生的时刻」定义成「医生下达抗生素医嘱的时刻」。可医嘱本身就说明医生已经在怀疑败血症了——模型实际学到的是「医生什么时候会识别出败血症」，而不是「败血症什么时候真正发生」。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506046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510" y="3429846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特征泄漏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一部分特征里含有「是否已开抗生素」这类由临床决策产生的信息。可在真正需要预测的时刻，这些动作根本还没发生——相当于用「明天的成绩单」去预测「今天的心情」。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515273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510" y="4439073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严格复评后成绩更差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后续发表在 NEJM AI 上的分析，把评估严格限定在「临床识别之前」的时刻，模型的 AUROC 从 0.62 掉到 0.47——比抛硬币（0.5）还差。之前的高分，大半来自「剧透」。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524499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510" y="5448299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怎么自查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检验数据泄漏的黄金法则只有一条：问自己「在预测的那一个时刻，这条信息真的拿得到吗？」拿不到，就不能放进特征。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30 / 38 · 预测与建议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第4部分 · 后果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预警疲劳：18% 的预警率意味着什么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80820"/>
            <a:ext cx="11186160" cy="838200"/>
          </a:xfrm>
          <a:prstGeom prst="roundRect">
            <a:avLst>
              <a:gd name="adj" fmla="val 8000"/>
            </a:avLst>
          </a:prstGeom>
          <a:solidFill>
            <a:srgbClr val="2D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1531620"/>
            <a:ext cx="10668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「狼来了」喊多了，真有狼时也没人信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C7D2E0"/>
                </a:solidFill>
                <a:latin typeface="微软雅黑"/>
                <a:ea typeface="微软雅黑"/>
              </a:rPr>
              <a:t>预警疲劳 Alert Fatigue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968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510" y="24206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预警太多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18% 的住院患者都收到过败血症预警——平均每五六个住院病人里就有一个被「点名」。医生每天要面对大量弹窗，不可能每一条都认真处理。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3985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510" y="33223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假阳性的代价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PPV 只有 12%，也就是说大约九成预警是假的。为了逐一核实，医生要花时间，患者要做不必要的检查、用不必要的抗生素——而抗生素滥用又会助长耐药菌。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3002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510" y="42240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阈值两难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阈值调低，能抓到更多真病例，但预警更泛滥；阈值调高，打扰少了，漏掉的真病例却更多。所以「最优阈值」必须结合临床代价来定，不能只盯着 AUC。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125720"/>
            <a:ext cx="3525519" cy="116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5320" y="5303520"/>
            <a:ext cx="3220719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A2744"/>
                </a:solidFill>
                <a:latin typeface="微软雅黑"/>
                <a:ea typeface="微软雅黑"/>
              </a:rPr>
              <a:t>18%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320" y="5887720"/>
            <a:ext cx="3220719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微软雅黑"/>
                <a:ea typeface="微软雅黑"/>
              </a:rPr>
              <a:t>住院患者收到预警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3240" y="5125720"/>
            <a:ext cx="3525519" cy="116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85640" y="5303520"/>
            <a:ext cx="3220719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A2744"/>
                </a:solidFill>
                <a:latin typeface="微软雅黑"/>
                <a:ea typeface="微软雅黑"/>
              </a:rPr>
              <a:t>12%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5640" y="5887720"/>
            <a:ext cx="3220719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微软雅黑"/>
                <a:ea typeface="微软雅黑"/>
              </a:rPr>
              <a:t>预警的 PPV（含金量）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63559" y="5125720"/>
            <a:ext cx="3525519" cy="1168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6D0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15959" y="5303520"/>
            <a:ext cx="3220719" cy="533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A2744"/>
                </a:solidFill>
                <a:latin typeface="微软雅黑"/>
                <a:ea typeface="微软雅黑"/>
              </a:rPr>
              <a:t>67%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5959" y="5887720"/>
            <a:ext cx="3220719" cy="381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00" b="0" i="0">
                <a:solidFill>
                  <a:srgbClr val="4A5568"/>
                </a:solidFill>
                <a:latin typeface="微软雅黑"/>
                <a:ea typeface="微软雅黑"/>
              </a:rPr>
              <a:t>真实败血症被漏掉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31 / 38 · 预测与建议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第4部分 · 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败血症案例的四条教训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80820"/>
            <a:ext cx="11186160" cy="838200"/>
          </a:xfrm>
          <a:prstGeom prst="roundRect">
            <a:avLst>
              <a:gd name="adj" fmla="val 8000"/>
            </a:avLst>
          </a:prstGeom>
          <a:solidFill>
            <a:srgbClr val="4A54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1531620"/>
            <a:ext cx="10668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一个「高分模型」是怎样变成临床负担的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C7D2E0"/>
                </a:solidFill>
                <a:latin typeface="微软雅黑"/>
                <a:ea typeface="微软雅黑"/>
              </a:rPr>
              <a:t>Epic 败血症模型的启示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968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510" y="24206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① 独立外部验证不可少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厂商在自家样本内做回顾性评估，报出 0.76–0.83；换到医院数据上独立验证，只有 0.63。不换医院、不换数据、不按真实部署条件验证，再漂亮的分数都不能信。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506046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510" y="3429846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② 数据泄漏是头号杀手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目标定义用了「医生的行动」，特征里混进了「医嘱信息」，模型学到的是「预测医生」而不是「预测疾病」。每一条特征、每一个标签，都要检查它的「可得时刻」。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515273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510" y="4439073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③ 评估必须回到真实场景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AUC 是平均意义上的区分能力；而预警疲劳关心的是选定阈值之后的 PPV、预警率和漏检率。要用临床指标评估临床模型，而不是论文指标。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524499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510" y="5448299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④ 封闭模型要透明、要迭代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专有算法难以审计，出了问题也难追责。Epic 在 2022 年发布了 v2，修正目标定义、弱化医嘱特征、要求各医院本地微调——把失败公开出来，恰恰是最好的改进动力。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32 / 38 · 预测与建议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1737360"/>
            <a:ext cx="12191695" cy="2743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0" b="1" i="0">
                <a:solidFill>
                  <a:srgbClr val="2D3A54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880360"/>
            <a:ext cx="12191695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微软雅黑"/>
                <a:ea typeface="微软雅黑"/>
              </a:rPr>
              <a:t>第五部分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i="0">
                <a:solidFill>
                  <a:srgbClr val="B8BFCC"/>
                </a:solidFill>
                <a:latin typeface="微软雅黑"/>
                <a:ea typeface="微软雅黑"/>
              </a:rPr>
              <a:t>从预测到建议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5870448" y="4617720"/>
            <a:ext cx="457200" cy="27432"/>
          </a:xfrm>
          <a:prstGeom prst="rect">
            <a:avLst/>
          </a:prstGeom>
          <a:solidFill>
            <a:srgbClr val="6B72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9AA3B2"/>
                </a:solidFill>
                <a:latin typeface="微软雅黑"/>
                <a:ea typeface="微软雅黑"/>
              </a:rPr>
              <a:t>33 / 38 · 预测与建议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第5部分 · 概念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规范性分析：从「会发生什么」到「该怎么做」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80820"/>
            <a:ext cx="11186160" cy="8382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1531620"/>
            <a:ext cx="10668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预测给出概率，建议给出行动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C7D2E0"/>
                </a:solidFill>
                <a:latin typeface="微软雅黑"/>
                <a:ea typeface="微软雅黑"/>
              </a:rPr>
              <a:t>规范性分析 Prescriptive Analytics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968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510" y="24206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定义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规范性分析在「预测会发生什么」的基础上再往前一步，回答「我们该做什么」，并给出最优的行动方案。它是四个层级里的最高层。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506046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510" y="3429846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三个要素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① 决策变量——我们真正能控制的东西，比如要不要给某位患者提前用药；② 目标函数——我们想优化的目标，比如最大程度挽救生命或把总成本压到最低；③ 约束条件——床位、人手、预算都是有限的。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515273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510" y="4439073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例子：败血症场景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模型预测患者 A 的风险是 85%、患者 B 是 20%。接下来要结合抗生素的代价、耐药风险和床位情况，决定「先处理谁、用不用药」。预测只是原料，建议才是成品。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34 / 38 · 预测与建议</a:t>
            </a:r>
          </a:p>
        </p:txBody>
      </p:sp>
      <p:sp>
        <p:nvSpPr>
          <p:cNvPr id="15" name="Oval 11"/>
          <p:cNvSpPr/>
          <p:nvPr/>
        </p:nvSpPr>
        <p:spPr>
          <a:xfrm>
            <a:off x="685800" y="5524499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2"/>
          <p:cNvSpPr txBox="1"/>
          <p:nvPr/>
        </p:nvSpPr>
        <p:spPr>
          <a:xfrm>
            <a:off x="905510" y="5448299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它比预测多了什么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预测回答「会发生什么」，只要求准；规范性分析还要回答「该做什么」，必须把目标、约束和代价都摆进来一起权衡。所以它离业务决策更近，也更容易出错。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第5部分 · 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从预测分数到决策阈值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80820"/>
            <a:ext cx="11186160" cy="83820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1531620"/>
            <a:ext cx="10668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模型输出的是分数，行动需要的是门槛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C7D2E0"/>
                </a:solidFill>
                <a:latin typeface="微软雅黑"/>
                <a:ea typeface="微软雅黑"/>
              </a:rPr>
              <a:t>阈值选择 Threshold Selection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968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510" y="24206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分类阈值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逻辑回归给出的是「败血症概率 85%」这样的连续分数。要决定「报不报警」，就得先选一个阈值：高于它就触发行动，低于它就继续观察。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5232400"/>
            <a:ext cx="63500" cy="104140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510" y="3357879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两类错误的代价并不对等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漏掉一个真病例（FN）可能危及生命，误报一次（FP）大不了多做个检查。代价差得这么多，阈值就应该往「代价更高的一侧」偏——宁可多报几次假警，也不能漏掉真病例。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37134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510" y="429514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让期望代价最小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给每一个 FN、FP 各赋一个代价，再对每个候选阈值算出「期望总代价」，取最小的那个作为最优阈值。第四部分的败血症模型就栽在这里：阈值没有和临床代价对齐，18% 的预警率说明它定得太松了。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232400"/>
            <a:ext cx="11186160" cy="1041400"/>
          </a:xfrm>
          <a:prstGeom prst="rect">
            <a:avLst/>
          </a:prstGeom>
          <a:solidFill>
            <a:srgbClr val="F2E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5359400"/>
            <a:ext cx="10817860" cy="8128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1" i="0">
                <a:solidFill>
                  <a:srgbClr val="B45309"/>
                </a:solidFill>
                <a:latin typeface="微软雅黑"/>
                <a:ea typeface="微软雅黑"/>
              </a:rPr>
              <a:t>随堂练习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500" b="0" i="0">
                <a:solidFill>
                  <a:srgbClr val="2C2C2C"/>
                </a:solidFill>
                <a:latin typeface="微软雅黑"/>
                <a:ea typeface="微软雅黑"/>
              </a:rPr>
              <a:t>如果漏诊败血症的代价是误报的 100 倍，阈值应该提高还是降低？答案：降低阈值。因为漏掉一个真病例的损失远大于多报几次假警，所以宁可容忍更多假阳性，也不愿放过一个真病例。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35 / 38 · 预测与建议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第5部分 · 落地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建议要落到人身上：可解释性与人机配合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80820"/>
            <a:ext cx="11186160" cy="838200"/>
          </a:xfrm>
          <a:prstGeom prst="roundRect">
            <a:avLst>
              <a:gd name="adj" fmla="val 8000"/>
            </a:avLst>
          </a:prstGeom>
          <a:solidFill>
            <a:srgbClr val="234B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1531620"/>
            <a:ext cx="10668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医生不会盲信一个「黑箱」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C7D2E0"/>
                </a:solidFill>
                <a:latin typeface="微软雅黑"/>
                <a:ea typeface="微软雅黑"/>
              </a:rPr>
              <a:t>可解释性 Explainability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968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510" y="24206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建议必须说清楚「为什么」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一个只写着「败血症风险 85%」的弹窗，不足以推动医生行动。他需要知道理由：体温 39.2℃、白细胞 18×10⁹/L、血压持续走低。把触发的关键因素列出来，是落地的第一步。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506046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510" y="3429846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两条可解释性路线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简单模型（决策树、逻辑回归）本身就容易读懂；复杂模型（随机森林、深度模型）则要借助局部解释方法，比如 LIME、SHAP，输出每个特征贡献了多少分。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515273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510" y="4439073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建议不等于强制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模型提供的是决策支持，最终仍然要由人来拍板。预测告诉你「该重点关注谁」，医生结合临床经验做最终判断——工具替代不了责任。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524499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510" y="5448299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三个目标的权衡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精度、可解释性、成本，三者常常要取舍。精度最高的黑箱模型，可能恰恰最难让一线医生接受。选型时要一起考虑「业务侧到底能不能用起来」。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36 / 38 · 预测与建议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第5部分 · 伦理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负责任地使用预测：公平、隐私与问责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80820"/>
            <a:ext cx="11186160" cy="838200"/>
          </a:xfrm>
          <a:prstGeom prst="roundRect">
            <a:avLst>
              <a:gd name="adj" fmla="val 8000"/>
            </a:avLst>
          </a:prstGeom>
          <a:solidFill>
            <a:srgbClr val="2D3A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1531620"/>
            <a:ext cx="10668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预测能力越强，用它的责任就越大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C7D2E0"/>
                </a:solidFill>
                <a:latin typeface="微软雅黑"/>
                <a:ea typeface="微软雅黑"/>
              </a:rPr>
              <a:t>Responsible AI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968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510" y="24206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算法偏见从哪来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模型学的是历史数据，而历史数据本身可能带有偏见。如果训练样本里少数族裔、低收入群体的数据偏少，模型对他们的预测就可能系统性失真，形成「歧视闭环」。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506046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510" y="3429846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怎么检查公平性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一个好模型，对不同群体的预测误差应当大致相当。做法是分群体分别计算 AUC、PPV 和漏检率，再比较差距。败血症模型就应该检查它对不同人群的预警是否一样可靠。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515273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510" y="4439073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隐私与合规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医疗数据高度敏感，必须做匿名化和脱敏、取得知情同意，并遵守相应法规。数据存在哪里、谁可以访问、怎么审计，都是上线前必须回答的问题。</a:t>
            </a:r>
          </a:p>
        </p:txBody>
      </p:sp>
      <p:sp>
        <p:nvSpPr>
          <p:cNvPr id="14" name="Oval 13"/>
          <p:cNvSpPr/>
          <p:nvPr/>
        </p:nvSpPr>
        <p:spPr>
          <a:xfrm>
            <a:off x="685800" y="5524499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05510" y="5448299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出了错谁负责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模型误诊了，责任在谁？这需要透明、可审计、可追溯的机制。败血症案例给出的教训是：封闭模型因为无法审计，差点造成系统性的伤害。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37 / 38 · 预测与建议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65760"/>
            <a:ext cx="11247120" cy="254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100" b="0" i="0">
                <a:solidFill>
                  <a:srgbClr val="4A5568"/>
                </a:solidFill>
                <a:latin typeface="微软雅黑"/>
                <a:ea typeface="微软雅黑"/>
              </a:rPr>
              <a:t>第5部分 · 全章小结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40080"/>
            <a:ext cx="11247120" cy="50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800" b="1" i="0">
                <a:solidFill>
                  <a:srgbClr val="1A2744"/>
                </a:solidFill>
                <a:latin typeface="微软雅黑"/>
                <a:ea typeface="微软雅黑"/>
              </a:rPr>
              <a:t>本章小结：从预测到建议的完整闭环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298448"/>
            <a:ext cx="11183112" cy="18288"/>
          </a:xfrm>
          <a:prstGeom prst="rect">
            <a:avLst/>
          </a:prstGeom>
          <a:solidFill>
            <a:srgbClr val="D6D0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" y="1480820"/>
            <a:ext cx="11186160" cy="838200"/>
          </a:xfrm>
          <a:prstGeom prst="roundRect">
            <a:avLst>
              <a:gd name="adj" fmla="val 8000"/>
            </a:avLst>
          </a:prstGeom>
          <a:solidFill>
            <a:srgbClr val="1A2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62000" y="1531620"/>
            <a:ext cx="10668000" cy="7366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2000" b="1" i="0">
                <a:solidFill>
                  <a:srgbClr val="FFFFFF"/>
                </a:solidFill>
                <a:latin typeface="微软雅黑"/>
                <a:ea typeface="微软雅黑"/>
              </a:rPr>
              <a:t>预测给出概率，建议给出行动，行动又变成新的数据</a:t>
            </a:r>
          </a:p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200" b="0" i="0">
                <a:solidFill>
                  <a:srgbClr val="C7D2E0"/>
                </a:solidFill>
                <a:latin typeface="微软雅黑"/>
                <a:ea typeface="微软雅黑"/>
              </a:rPr>
              <a:t>Predict → Prescribe → Act → Learn</a:t>
            </a:r>
          </a:p>
        </p:txBody>
      </p:sp>
      <p:sp>
        <p:nvSpPr>
          <p:cNvPr id="8" name="Oval 7"/>
          <p:cNvSpPr/>
          <p:nvPr/>
        </p:nvSpPr>
        <p:spPr>
          <a:xfrm>
            <a:off x="685800" y="2496820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05510" y="2420620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四个层级，一条线索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描述性（发生了什么）→ 诊断性（为什么，第一章的因果推断）→ 预测性（接下来会怎样，本章前半）→ 规范性（该怎么做，本章后半）。一层比一层更靠近行动。</a:t>
            </a:r>
          </a:p>
        </p:txBody>
      </p:sp>
      <p:sp>
        <p:nvSpPr>
          <p:cNvPr id="10" name="Oval 9"/>
          <p:cNvSpPr/>
          <p:nvPr/>
        </p:nvSpPr>
        <p:spPr>
          <a:xfrm>
            <a:off x="685800" y="3506046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05510" y="3429846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三个案例，正反两面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天气预报展示了完整的正向范式：数据、模型、不确定性缺一不可；构建预测模型的六步流程是技术核心；败血症案例给出反面教训——数据泄漏加上预警疲劳，会让一个好模型变成负担。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4515273"/>
            <a:ext cx="91440" cy="91440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510" y="4439073"/>
            <a:ext cx="10570210" cy="8255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1" i="0">
                <a:solidFill>
                  <a:srgbClr val="1A2744"/>
                </a:solidFill>
                <a:latin typeface="微软雅黑"/>
                <a:ea typeface="微软雅黑"/>
              </a:rPr>
              <a:t>几条要记住的结论</a:t>
            </a:r>
          </a:p>
          <a:p>
            <a:pPr algn="l">
              <a:lnSpc>
                <a:spcPct val="125000"/>
              </a:lnSpc>
              <a:spcAft>
                <a:spcPts val="200"/>
              </a:spcAft>
            </a:pPr>
            <a:r>
              <a:rPr sz="1600" b="0" i="0">
                <a:solidFill>
                  <a:srgbClr val="2C2C2C"/>
                </a:solidFill>
                <a:latin typeface="微软雅黑"/>
                <a:ea typeface="微软雅黑"/>
              </a:rPr>
              <a:t>预测只求准，因果要问反事实。数据决定上限，算法只能逼近上限。数据泄漏会毁掉一切，评估一定要回到真实场景。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4359" y="6413500"/>
            <a:ext cx="3474720" cy="2794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B0A99C"/>
                </a:solidFill>
                <a:latin typeface="微软雅黑"/>
                <a:ea typeface="微软雅黑"/>
              </a:rPr>
              <a:t>38 / 38 · 预测与建议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12800" y="431800"/>
            <a:ext cx="762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9C5C3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CHAPTER 02 · 本章小结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812800" y="736600"/>
            <a:ext cx="10566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erif SC"/>
                <a:ea typeface="Noto Serif SC"/>
                <a:cs typeface="Noto Serif SC"/>
                <a:sym typeface="Noto Serif SC"/>
              </a:rPr>
              <a:t>预测是原材料，建议才是成品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/>
          <p:cNvSpPr txBox="1"/>
          <p:nvPr/>
        </p:nvSpPr>
        <p:spPr>
          <a:xfrm>
            <a:off x="812800" y="1371600"/>
            <a:ext cx="105664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5A544E"/>
                </a:solidFill>
                <a:effectLst/>
                <a:uLnTx/>
                <a:uFillTx/>
                <a:latin typeface="Noto Serif SC"/>
                <a:ea typeface="Noto Serif SC"/>
                <a:cs typeface="Noto Serif SC"/>
                <a:sym typeface="Noto Serif SC"/>
              </a:rPr>
              <a:t>预测只求准，因果要反事实；数据决定上限，算法逼近上限；泄漏毁掉一切，评估回到场景。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5" name="Connector 5"/>
          <p:cNvCxnSpPr/>
          <p:nvPr/>
        </p:nvCxnSpPr>
        <p:spPr>
          <a:xfrm rot="-4131">
            <a:off x="812804" y="1847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EB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" name="AutoShape 6"/>
          <p:cNvSpPr txBox="1"/>
          <p:nvPr/>
        </p:nvSpPr>
        <p:spPr>
          <a:xfrm>
            <a:off x="812800" y="2032000"/>
            <a:ext cx="508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erif SC"/>
                <a:ea typeface="Noto Serif SC"/>
                <a:cs typeface="Noto Serif SC"/>
                <a:sym typeface="Noto Serif SC"/>
              </a:rPr>
              <a:t>一、四大分析层级：层层递进的闭环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AutoShape 7"/>
          <p:cNvSpPr txBox="1"/>
          <p:nvPr/>
        </p:nvSpPr>
        <p:spPr>
          <a:xfrm>
            <a:off x="812800" y="2438400"/>
            <a:ext cx="51308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9C5C3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01　</a:t>
            </a:r>
            <a:r>
              <a:rPr kumimoji="0" 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描述性分析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8736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　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78736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发生了什么？看板与历史汇总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9C5C3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02　</a:t>
            </a:r>
            <a:r>
              <a:rPr kumimoji="0" 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诊断性分析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8736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　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78736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为什么？因果推断（第一章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8736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）</a:t>
            </a:r>
          </a:p>
          <a:p>
            <a:pPr marL="0" marR="0" lvl="0" indent="0" algn="l" defTabSz="914400" rtl="0" eaLnBrk="1" fontAlgn="auto" latinLnBrk="0" hangingPunct="1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9C5C3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03　</a:t>
            </a:r>
            <a:r>
              <a:rPr kumimoji="0" 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预测性分析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8736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　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78736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会发生什么？监督学习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78736C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  <a:p>
            <a:pPr marL="0" marR="0" lvl="0" indent="0" algn="l" defTabSz="914400" rtl="0" eaLnBrk="1" fontAlgn="auto" latinLnBrk="0" hangingPunct="1">
              <a:lnSpc>
                <a:spcPct val="141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9C5C3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04　</a:t>
            </a:r>
            <a:r>
              <a:rPr kumimoji="0" 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规范性分析</a:t>
            </a:r>
            <a:r>
              <a:rPr kumimoji="0" lang="en-US" sz="1400" b="0" i="0" u="none" strike="noStrike" kern="0" cap="none" spc="0" normalizeH="0" baseline="0" noProof="0" dirty="0">
                <a:ln>
                  <a:noFill/>
                </a:ln>
                <a:solidFill>
                  <a:srgbClr val="78736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　</a:t>
            </a:r>
            <a:r>
              <a:rPr kumimoji="0" lang="en-US" sz="1400" b="0" i="0" u="none" strike="noStrike" kern="0" cap="none" spc="0" normalizeH="0" baseline="0" noProof="0" dirty="0" err="1">
                <a:ln>
                  <a:noFill/>
                </a:ln>
                <a:solidFill>
                  <a:srgbClr val="78736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该怎么做？行动建议</a:t>
            </a: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78736C"/>
              </a:solidFill>
              <a:effectLst/>
              <a:uLnTx/>
              <a:uFillTx/>
              <a:latin typeface="Noto Sans SC"/>
              <a:ea typeface="Noto Sans SC"/>
              <a:cs typeface="Noto Sans SC"/>
              <a:sym typeface="Noto Sans SC"/>
            </a:endParaRPr>
          </a:p>
        </p:txBody>
      </p:sp>
      <p:cxnSp>
        <p:nvCxnSpPr>
          <p:cNvPr id="8" name="Connector 8"/>
          <p:cNvCxnSpPr/>
          <p:nvPr/>
        </p:nvCxnSpPr>
        <p:spPr>
          <a:xfrm rot="5386025">
            <a:off x="4533900" y="3613163"/>
            <a:ext cx="3124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4C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 txBox="1"/>
          <p:nvPr/>
        </p:nvSpPr>
        <p:spPr>
          <a:xfrm>
            <a:off x="6400800" y="2032000"/>
            <a:ext cx="49784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erif SC"/>
                <a:ea typeface="Noto Serif SC"/>
                <a:cs typeface="Noto Serif SC"/>
                <a:sym typeface="Noto Serif SC"/>
              </a:rPr>
              <a:t>二、三个案例：一技术、一正例、一反例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10" name="AutoShape 10"/>
          <p:cNvSpPr txBox="1"/>
          <p:nvPr/>
        </p:nvSpPr>
        <p:spPr>
          <a:xfrm>
            <a:off x="6400800" y="2413000"/>
            <a:ext cx="4978400" cy="287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天气预报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9C5C3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　机理驱动 · 正例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78736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预测＝数据＋模型＋不确定性；混沌决定约两周可预报上限；集合预报用概率表达不确定。</a:t>
            </a:r>
          </a:p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监督学习建模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9C5C3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　数据驱动 · 技术</a:t>
            </a:r>
          </a:p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78736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六步流程；特征工程；训练／验证／测试切分；偏差—方差权衡，对抗过拟合。</a:t>
            </a:r>
          </a:p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败血症预警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9C5C3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　部署上线 · 反例</a:t>
            </a:r>
          </a:p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78736C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数据泄漏致 PPV 仅 12%；高 AUC ≠ 临床有用；假阳性泛滥引发预警疲劳。</a:t>
            </a:r>
          </a:p>
        </p:txBody>
      </p:sp>
      <p:cxnSp>
        <p:nvCxnSpPr>
          <p:cNvPr id="11" name="Connector 11"/>
          <p:cNvCxnSpPr/>
          <p:nvPr/>
        </p:nvCxnSpPr>
        <p:spPr>
          <a:xfrm rot="-4131">
            <a:off x="812804" y="53784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EB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 txBox="1"/>
          <p:nvPr/>
        </p:nvSpPr>
        <p:spPr>
          <a:xfrm>
            <a:off x="812800" y="5537200"/>
            <a:ext cx="105664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9C5C3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核心闭环　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Predict → Prescribe → Act → Learn　｜　</a:t>
            </a:r>
            <a:r>
              <a:rPr kumimoji="0" lang="en-US" sz="1300" b="1" i="0" u="none" strike="noStrike" kern="0" cap="none" spc="0" normalizeH="0" baseline="0" noProof="0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迁移边界：</a:t>
            </a:r>
            <a:r>
              <a:rPr kumimoji="0" lang="en-US" sz="1300" b="0" i="0" u="none" strike="noStrike" kern="0" cap="none" spc="0" normalizeH="0" baseline="0" noProof="0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预测仅在数据分布稳定时有效；特征重要性 ≠ 因果效应；模型只做决策支持，人在回路。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7F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 txBox="1"/>
          <p:nvPr/>
        </p:nvSpPr>
        <p:spPr>
          <a:xfrm>
            <a:off x="812800" y="431800"/>
            <a:ext cx="7620000" cy="279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9C5C3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CHAPTER 02 · 课后思考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/>
          <p:cNvSpPr txBox="1"/>
          <p:nvPr/>
        </p:nvSpPr>
        <p:spPr>
          <a:xfrm>
            <a:off x="812800" y="736600"/>
            <a:ext cx="10566400" cy="558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000" b="1" i="0" u="none" strike="noStrike" kern="0" cap="none" spc="0" normalizeH="0" baseline="0" noProof="0" dirty="0" err="1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erif SC"/>
                <a:ea typeface="Noto Serif SC"/>
                <a:cs typeface="Noto Serif SC"/>
                <a:sym typeface="Noto Serif SC"/>
              </a:rPr>
              <a:t>章节思考题</a:t>
            </a: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cxnSp>
        <p:nvCxnSpPr>
          <p:cNvPr id="4" name="Connector 4"/>
          <p:cNvCxnSpPr/>
          <p:nvPr/>
        </p:nvCxnSpPr>
        <p:spPr>
          <a:xfrm rot="-4131">
            <a:off x="812804" y="14160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C8BEB2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AutoShape 5"/>
          <p:cNvSpPr txBox="1"/>
          <p:nvPr/>
        </p:nvSpPr>
        <p:spPr>
          <a:xfrm>
            <a:off x="490539" y="1600200"/>
            <a:ext cx="11139486" cy="419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9C5C3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1　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有人说：“预测模型靠相关关系就能预测，所以它和因果推断是一回事。”请结合“雨伞销量预测降雨”的例子，谈谈你是否同意，并说明预测与因果推断各自依赖什么、为什么不能互相替代。</a:t>
            </a:r>
            <a:endParaRPr kumimoji="0" 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9C5C3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2　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天气预报的确定性可预报上限约为两周，而销售预测却常提前一个季度甚至一年。请用“混沌系统＋数据分布漂移”解释：为什么后者在工程上仍可做？其可信度会随提前量如何变化？</a:t>
            </a:r>
          </a:p>
          <a:p>
            <a:pPr marL="0" marR="0" lvl="0" indent="0" algn="l" defTabSz="914400" rtl="0" eaLnBrk="1" fontAlgn="auto" latinLnBrk="0" hangingPunct="1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9C5C3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3　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某医院内部数据上训练的败血症模型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AUC＝0.82，上线后医生却反映“弹窗太多、没人看”。请从标签定义、数据泄漏、PPV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与阈值三方面分析问题可能出在哪，并给出一份排查清单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9C5C3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4　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若漏诊败血症的代价约为误报的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100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倍，选择分类阈值时你会提高还是降低？这会如何影响敏感度、特异度与预警量？请说明代价不对称时的阈值选择逻辑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208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>
                <a:ln>
                  <a:noFill/>
                </a:ln>
                <a:solidFill>
                  <a:srgbClr val="9C5C38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5　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模型给出“患者败血症风险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 85%”后，医生仍需结合床旁情况决定是否提前用药。请论述“人在回路（human-in-the-loop）”的必要性，并说明可解释性（如 </a:t>
            </a:r>
            <a:r>
              <a:rPr kumimoji="0" lang="en-US" sz="2000" b="0" i="0" u="none" strike="noStrike" kern="0" cap="none" spc="0" normalizeH="0" baseline="0" noProof="0" dirty="0" err="1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SHAP）与算法公平性检查在其中的作用</a:t>
            </a:r>
            <a:r>
              <a: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srgbClr val="2B2826"/>
                </a:solidFill>
                <a:effectLst/>
                <a:uLnTx/>
                <a:uFillTx/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cxnSp>
        <p:nvCxnSpPr>
          <p:cNvPr id="6" name="Connector 6"/>
          <p:cNvCxnSpPr/>
          <p:nvPr/>
        </p:nvCxnSpPr>
        <p:spPr>
          <a:xfrm rot="-4131">
            <a:off x="812804" y="5911850"/>
            <a:ext cx="10566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4CA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3258</Words>
  <Application>Microsoft Office PowerPoint</Application>
  <PresentationFormat>宽屏</PresentationFormat>
  <Paragraphs>563</Paragraphs>
  <Slides>40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40</vt:i4>
      </vt:variant>
    </vt:vector>
  </HeadingPairs>
  <TitlesOfParts>
    <vt:vector size="49" baseType="lpstr">
      <vt:lpstr>Noto Sans SC</vt:lpstr>
      <vt:lpstr>Noto Serif SC</vt:lpstr>
      <vt:lpstr>等线</vt:lpstr>
      <vt:lpstr>微软雅黑</vt:lpstr>
      <vt:lpstr>Arial</vt:lpstr>
      <vt:lpstr>Calibri</vt:lpstr>
      <vt:lpstr>Consolas</vt:lpstr>
      <vt:lpstr>Office Theme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admin</cp:lastModifiedBy>
  <cp:revision>12</cp:revision>
  <dcterms:created xsi:type="dcterms:W3CDTF">2013-01-27T09:14:16Z</dcterms:created>
  <dcterms:modified xsi:type="dcterms:W3CDTF">2026-10-15T08:57:06Z</dcterms:modified>
  <cp:category/>
</cp:coreProperties>
</file>